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SLIDES_API49958225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SLIDES_API49958225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My recommendation is to approve Phase 1 of the Smart-Recovery portal today. Phase 1 lets customers verify who they are, see what they owe, and pay in full, set up a 3, 6 or 12 month plan, or promise to pay. Anything involving hardship, a dispute or a complex account goes straight to a representative, with the context already captured. We should approve it now because 100,000 delinquent accounts are being run on spreadsheets and email, and about one in five logged activities is a duplicate. It is credible because it is deliberately small: three of the five ranked opportunities, a 175 thousand pound build, and it pays back within 12 months even if we count only hard savings. The rest of the deck shows the evidence, and I will finish with the specific decisions I need from you.</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SLIDES_API499582256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SLIDES_API499582256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why this matters now. Legacy Trust manages more than 100,000 delinquent accounts with over 50 representatives, using spreadsheets, email and a collections database that is twenty years old. We can trace two specific leaks. Spreadsheet errors cost about 500 thousand pounds a year, and at least a fifth of follow-ups are lost when work is handed over between shifts. Representatives also spend up to half their day just finding information. You will see a reported 15 percent revenue loss in the case study. I want to be clear that Finance has not confirmed how it is defined, so our value case does not depend on it.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SLIDES_API499582256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SLIDES_API499582256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what discovery found. In the activity tracker, about 20 percent of logged activities are flagged as duplicates and about 15 percent have no next follow-up date, which lines up with Finance's 14 percent missed follow-up estimate. Representatives lose up to half their day searching for information, customers are called repeatedly and have to re-explain themselves, and managers cannot trust the counts they report. These are first-pass figures from the tracker, and we are treating them as indicative rather than final. They point to three needs: customers need to see and act on their balance, every case needs to update one central record automatically, and simple cases need to be separated from complex ones.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SLIDES_API499582256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SLIDES_API499582256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value case. We ranked five automation opportunities and Phase 1 funds three of them: status sync, self-service repayment and account triage. The reminders project ranks second, but it is an email and text feature, so it is deferred; the check on unpaid promises is still covered by automatic monitoring. Payment confirmations are deferred too, because receipts appear on screen. Together they cost 175 thousand pounds and return 1.4 million in benefit, which is a net 1.23 million and roughly 700 percent ROI, paid back in about a month and a half. I expect to be challenged on that, so the bottom table shows the stress test. About a million of the benefit is recovery uplift, and Finance rates that as low to medium confidence. If we halve it, ROI is still over 400 percent. If we count only hard savings from time released at 22 pounds an hour, we still return 131 percent and pay back in just over five months, inside the 12 month target.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SLIDES_API499582256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SLIDES_API499582256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exactly what you would be approving, and what you would not. In scope is the customer journey from verification to a confirmed payment, plan or promise, plus the routing and record keeping behind it. Out of scope is just as important. We are not building email confirmations or reminders, not Direct Debit in the first release, not hardship assessment, and not the legal escalation workflow. Receipts appear on screen instead of by email. That keeps Phase 1 small enough to deliver and keeps the sensitive cases with trained people.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SLIDES_API499582256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SLIDES_API499582256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To-Be workflow in one view. The account is triaged by rules when it becomes delinquent. Eligible customers verify their identity, pass a hardship check, and then choose how to resolve the balance. The result is written back to the legacy database and shown to the customer on screen. The three boxes underneath are the exception paths, and they matter most to operations. Anything not eligible, flagged or disputed goes to a representative with the reason recorded. Repeated failed verification locks the account for an hour and routes it to a person. Unpaid promises are checked automatically and escalated. Every step is audited, which gives managers and Compliance a record they can rely 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SLIDES_API499582256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SLIDES_API499582256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 delivery readiness: the backlog has five epics and nineteen stories, each with acceptance criteria, dependencies, a priority and an estimate. Sixteen are must-haves and three are should-haves, about 89 story points in total. Examples include verifying identity, the lockout fallback, hardship diversion, promise to pay and card payment. We have also built a working prototype with twelve screens, and each screen is annotated with its story, the data shown, the rule and the next step. To be straightforward about its status: it has not been usability tested yet. Four things need an owner before build starts: Compliance sign-off on how identity is verified, agreement on the eligibility rules and the 5,000 pound threshold, a payment gateway owner, and an owner for what happens if a database update fails.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SLIDES_API499582256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SLIDES_API499582256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main risk is adoption rather than technology, so I want to show you the change plan. We assessed three groups using ADKAR. Representatives are aware of the problem and want relief, but they lack knowledge of the new system. Our mitigation is to give them time and support before raising targets, and to make clear that complex, hardship and dispute cases stay with them. Finance and Compliance worry that a vulnerable customer is treated as a simple case, so we use explicit decision tables and escalation rules. Customers may not notice the change or may prefer to talk to someone, so we announce it by email and letter, provide a walkthrough, and build hardship and dispute options into the portal. Reinforcement is the weakest part for customers, and that is why early support matters. Managers are not in the ADKAR assessment yet, so that row comes from the as-is analysis and the workflow: they need counts that reconcile, and they receive escalated cases with the reason recorded.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SLIDES_API499582256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SLIDES_API499582256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want to address the objections you are most likely to raise, including the ones where we do not yet have a complete answer. On vulnerable customers, flagged accounts never see payment options and go to specialists. On the numbers, we showed that hard savings alone cover the build, and we do not use the 15 percent revenue loss figure. If customers cannot verify, they are locked out for an hour and routed to a person. Two items are open. Nobody owns database write-back failures yet, and Compliance has not signed off the identity standard. I am treating both as conditions of approval rather than hiding them.</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SLIDES_API499582256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SLIDES_API499582256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My ask is for three decisions. First, approve the 175 thousand pound Phase 1 build. Second, name an owner for each of the four open items: identity verification sign-off, the eligibility rules and threshold, the payment gateway, and database write-back failures. Third, let the team start refining the backlog and test the prototype with real representatives and customers. We will measure success against the baselines you have seen today: duplicate activity at about 20 percent, missed follow-ups at about 14 percent, and payback inside 12 months. With those decisions, we can start delivery planning immediately.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0" y="0"/>
            <a:ext cx="9144000" cy="1017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nvSpPr>
        <p:spPr>
          <a:xfrm>
            <a:off x="457200" y="228600"/>
            <a:ext cx="8229600" cy="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0B2A4A"/>
                </a:solidFill>
              </a:rPr>
              <a:t>Recommendation: approve Phase 1 of the Smart-Recovery portal now</a:t>
            </a:r>
            <a:endParaRPr b="1" sz="2200">
              <a:solidFill>
                <a:srgbClr val="0B2A4A"/>
              </a:solidFill>
            </a:endParaRPr>
          </a:p>
        </p:txBody>
      </p:sp>
      <p:sp>
        <p:nvSpPr>
          <p:cNvPr id="56" name="Google Shape;56;p13"/>
          <p:cNvSpPr txBox="1"/>
          <p:nvPr/>
        </p:nvSpPr>
        <p:spPr>
          <a:xfrm>
            <a:off x="457200" y="4813300"/>
            <a:ext cx="77217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F6B76"/>
                </a:solidFill>
              </a:rPr>
              <a:t>Source: ROI summary (Week 1), Phase 1 scope, Jira backlog, discovery brief. ROI and payback are derived from the ROI model.</a:t>
            </a:r>
            <a:endParaRPr sz="800">
              <a:solidFill>
                <a:srgbClr val="5F6B76"/>
              </a:solidFill>
            </a:endParaRPr>
          </a:p>
        </p:txBody>
      </p:sp>
      <p:sp>
        <p:nvSpPr>
          <p:cNvPr id="57" name="Google Shape;57;p13"/>
          <p:cNvSpPr txBox="1"/>
          <p:nvPr/>
        </p:nvSpPr>
        <p:spPr>
          <a:xfrm>
            <a:off x="8382000" y="4813300"/>
            <a:ext cx="304800" cy="203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5F6B76"/>
                </a:solidFill>
              </a:rPr>
              <a:t>1</a:t>
            </a:r>
            <a:endParaRPr sz="900">
              <a:solidFill>
                <a:srgbClr val="5F6B76"/>
              </a:solidFill>
            </a:endParaRPr>
          </a:p>
        </p:txBody>
      </p:sp>
      <p:sp>
        <p:nvSpPr>
          <p:cNvPr id="58" name="Google Shape;58;p13"/>
          <p:cNvSpPr/>
          <p:nvPr/>
        </p:nvSpPr>
        <p:spPr>
          <a:xfrm>
            <a:off x="457200" y="1066800"/>
            <a:ext cx="2641500" cy="30099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 name="Google Shape;59;p13"/>
          <p:cNvSpPr/>
          <p:nvPr/>
        </p:nvSpPr>
        <p:spPr>
          <a:xfrm>
            <a:off x="457200" y="1066800"/>
            <a:ext cx="50700" cy="30099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13"/>
          <p:cNvSpPr txBox="1"/>
          <p:nvPr/>
        </p:nvSpPr>
        <p:spPr>
          <a:xfrm>
            <a:off x="609600" y="1168400"/>
            <a:ext cx="23877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14558F"/>
                </a:solidFill>
              </a:rPr>
              <a:t>WHAT Phase 1 includes</a:t>
            </a:r>
            <a:endParaRPr b="1" sz="1200">
              <a:solidFill>
                <a:srgbClr val="14558F"/>
              </a:solidFill>
            </a:endParaRPr>
          </a:p>
        </p:txBody>
      </p:sp>
      <p:sp>
        <p:nvSpPr>
          <p:cNvPr id="61" name="Google Shape;61;p13"/>
          <p:cNvSpPr txBox="1"/>
          <p:nvPr/>
        </p:nvSpPr>
        <p:spPr>
          <a:xfrm>
            <a:off x="609600" y="1473200"/>
            <a:ext cx="2387700" cy="25527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rgbClr val="1B2733"/>
              </a:buClr>
              <a:buSzPts val="1100"/>
              <a:buChar char="●"/>
            </a:pPr>
            <a:r>
              <a:rPr lang="en" sz="1100">
                <a:solidFill>
                  <a:srgbClr val="1B2733"/>
                </a:solidFill>
              </a:rPr>
              <a:t>Identity check, then a live balance view</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Pay in full, a 3/6/12-month plan, or a promise to pay</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Hardship, dispute and complex cases routed to a representative with context</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Every action written back to the legacy database and audited</a:t>
            </a:r>
            <a:endParaRPr sz="1100">
              <a:solidFill>
                <a:srgbClr val="1B2733"/>
              </a:solidFill>
            </a:endParaRPr>
          </a:p>
        </p:txBody>
      </p:sp>
      <p:sp>
        <p:nvSpPr>
          <p:cNvPr id="62" name="Google Shape;62;p13"/>
          <p:cNvSpPr/>
          <p:nvPr/>
        </p:nvSpPr>
        <p:spPr>
          <a:xfrm>
            <a:off x="3251200" y="1066800"/>
            <a:ext cx="2641500" cy="30099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3"/>
          <p:cNvSpPr/>
          <p:nvPr/>
        </p:nvSpPr>
        <p:spPr>
          <a:xfrm>
            <a:off x="3251200" y="1066800"/>
            <a:ext cx="50700" cy="30099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3"/>
          <p:cNvSpPr txBox="1"/>
          <p:nvPr/>
        </p:nvSpPr>
        <p:spPr>
          <a:xfrm>
            <a:off x="3403600" y="1168400"/>
            <a:ext cx="23877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14558F"/>
                </a:solidFill>
              </a:rPr>
              <a:t>WHY approve it now</a:t>
            </a:r>
            <a:endParaRPr b="1" sz="1200">
              <a:solidFill>
                <a:srgbClr val="14558F"/>
              </a:solidFill>
            </a:endParaRPr>
          </a:p>
        </p:txBody>
      </p:sp>
      <p:sp>
        <p:nvSpPr>
          <p:cNvPr id="65" name="Google Shape;65;p13"/>
          <p:cNvSpPr txBox="1"/>
          <p:nvPr/>
        </p:nvSpPr>
        <p:spPr>
          <a:xfrm>
            <a:off x="3403600" y="1473200"/>
            <a:ext cx="2387700" cy="25527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rgbClr val="1B2733"/>
              </a:buClr>
              <a:buSzPts val="1100"/>
              <a:buChar char="●"/>
            </a:pPr>
            <a:r>
              <a:rPr lang="en" sz="1100">
                <a:solidFill>
                  <a:srgbClr val="1B2733"/>
                </a:solidFill>
              </a:rPr>
              <a:t>100,000+ delinquent accounts run on spreadsheets, email and a 20-year-old database</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20% of logged activities are flagged as duplicates</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£1.4M estimated annual benefit for a £175k build, about 700% ROI</a:t>
            </a:r>
            <a:endParaRPr sz="1100">
              <a:solidFill>
                <a:srgbClr val="1B2733"/>
              </a:solidFill>
            </a:endParaRPr>
          </a:p>
        </p:txBody>
      </p:sp>
      <p:sp>
        <p:nvSpPr>
          <p:cNvPr id="66" name="Google Shape;66;p13"/>
          <p:cNvSpPr/>
          <p:nvPr/>
        </p:nvSpPr>
        <p:spPr>
          <a:xfrm>
            <a:off x="6045200" y="1066800"/>
            <a:ext cx="2641500" cy="30099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3"/>
          <p:cNvSpPr/>
          <p:nvPr/>
        </p:nvSpPr>
        <p:spPr>
          <a:xfrm>
            <a:off x="6045200" y="1066800"/>
            <a:ext cx="50700" cy="30099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3"/>
          <p:cNvSpPr txBox="1"/>
          <p:nvPr/>
        </p:nvSpPr>
        <p:spPr>
          <a:xfrm>
            <a:off x="6197600" y="1168400"/>
            <a:ext cx="24891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14558F"/>
                </a:solidFill>
              </a:rPr>
              <a:t>WHY it is credible and focused</a:t>
            </a:r>
            <a:endParaRPr b="1" sz="1200">
              <a:solidFill>
                <a:srgbClr val="14558F"/>
              </a:solidFill>
            </a:endParaRPr>
          </a:p>
        </p:txBody>
      </p:sp>
      <p:sp>
        <p:nvSpPr>
          <p:cNvPr id="69" name="Google Shape;69;p13"/>
          <p:cNvSpPr txBox="1"/>
          <p:nvPr/>
        </p:nvSpPr>
        <p:spPr>
          <a:xfrm>
            <a:off x="6197600" y="1473200"/>
            <a:ext cx="2387700" cy="25527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rgbClr val="1B2733"/>
              </a:buClr>
              <a:buSzPts val="1100"/>
              <a:buChar char="●"/>
            </a:pPr>
            <a:r>
              <a:rPr lang="en" sz="1100">
                <a:solidFill>
                  <a:srgbClr val="1B2733"/>
                </a:solidFill>
              </a:rPr>
              <a:t>3 of 5 ranked opportunities; the rest are deferred</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Hard savings alone (£405k) repay the build in about 5 months</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19 backlog stories and a working prototype already exist</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Hardship, disputes and legal escalation stay with people</a:t>
            </a:r>
            <a:endParaRPr sz="1100">
              <a:solidFill>
                <a:srgbClr val="1B2733"/>
              </a:solidFill>
            </a:endParaRPr>
          </a:p>
        </p:txBody>
      </p:sp>
      <p:sp>
        <p:nvSpPr>
          <p:cNvPr id="70" name="Google Shape;70;p13"/>
          <p:cNvSpPr/>
          <p:nvPr/>
        </p:nvSpPr>
        <p:spPr>
          <a:xfrm>
            <a:off x="457200" y="4178300"/>
            <a:ext cx="8229600" cy="4065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3"/>
          <p:cNvSpPr txBox="1"/>
          <p:nvPr/>
        </p:nvSpPr>
        <p:spPr>
          <a:xfrm>
            <a:off x="584200" y="4241800"/>
            <a:ext cx="79755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FFFFFF"/>
                </a:solidFill>
              </a:rPr>
              <a:t>Decision needed: approve the £175k Phase 1 build and confirm four open owners (slide 10).</a:t>
            </a:r>
            <a:endParaRPr b="1" sz="11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4"/>
          <p:cNvSpPr/>
          <p:nvPr/>
        </p:nvSpPr>
        <p:spPr>
          <a:xfrm>
            <a:off x="0" y="0"/>
            <a:ext cx="9144000" cy="1017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4"/>
          <p:cNvSpPr txBox="1"/>
          <p:nvPr/>
        </p:nvSpPr>
        <p:spPr>
          <a:xfrm>
            <a:off x="457200" y="228600"/>
            <a:ext cx="8229600" cy="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0B2A4A"/>
                </a:solidFill>
              </a:rPr>
              <a:t>Collections still runs on spreadsheets and memory, and it is costing recoveries</a:t>
            </a:r>
            <a:endParaRPr b="1" sz="2200">
              <a:solidFill>
                <a:srgbClr val="0B2A4A"/>
              </a:solidFill>
            </a:endParaRPr>
          </a:p>
        </p:txBody>
      </p:sp>
      <p:sp>
        <p:nvSpPr>
          <p:cNvPr id="78" name="Google Shape;78;p14"/>
          <p:cNvSpPr txBox="1"/>
          <p:nvPr/>
        </p:nvSpPr>
        <p:spPr>
          <a:xfrm>
            <a:off x="457200" y="4813300"/>
            <a:ext cx="77217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F6B76"/>
                </a:solidFill>
              </a:rPr>
              <a:t>Source: case study; ROI summary (OPT-04, OPT-03); current process impact analysis; discovery brief (15% estimate awaiting Finance).</a:t>
            </a:r>
            <a:endParaRPr sz="800">
              <a:solidFill>
                <a:srgbClr val="5F6B76"/>
              </a:solidFill>
            </a:endParaRPr>
          </a:p>
        </p:txBody>
      </p:sp>
      <p:sp>
        <p:nvSpPr>
          <p:cNvPr id="79" name="Google Shape;79;p14"/>
          <p:cNvSpPr txBox="1"/>
          <p:nvPr/>
        </p:nvSpPr>
        <p:spPr>
          <a:xfrm>
            <a:off x="8382000" y="4813300"/>
            <a:ext cx="304800" cy="203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5F6B76"/>
                </a:solidFill>
              </a:rPr>
              <a:t>2</a:t>
            </a:r>
            <a:endParaRPr sz="900">
              <a:solidFill>
                <a:srgbClr val="5F6B76"/>
              </a:solidFill>
            </a:endParaRPr>
          </a:p>
        </p:txBody>
      </p:sp>
      <p:sp>
        <p:nvSpPr>
          <p:cNvPr id="80" name="Google Shape;80;p14"/>
          <p:cNvSpPr txBox="1"/>
          <p:nvPr/>
        </p:nvSpPr>
        <p:spPr>
          <a:xfrm>
            <a:off x="457200" y="1066800"/>
            <a:ext cx="4826100" cy="35688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1B2733"/>
              </a:buClr>
              <a:buSzPts val="1200"/>
              <a:buChar char="●"/>
            </a:pPr>
            <a:r>
              <a:rPr b="1" lang="en" sz="1200">
                <a:solidFill>
                  <a:srgbClr val="1B2733"/>
                </a:solidFill>
              </a:rPr>
              <a:t>Scale:</a:t>
            </a:r>
            <a:r>
              <a:rPr lang="en" sz="1200">
                <a:solidFill>
                  <a:srgbClr val="1B2733"/>
                </a:solidFill>
              </a:rPr>
              <a:t> 100,000+ delinquent accounts handled by 50+ representatives</a:t>
            </a:r>
            <a:endParaRPr sz="1200">
              <a:solidFill>
                <a:srgbClr val="1B2733"/>
              </a:solidFill>
            </a:endParaRPr>
          </a:p>
          <a:p>
            <a:pPr indent="-304800" lvl="0" marL="457200" rtl="0" algn="l">
              <a:spcBef>
                <a:spcPts val="0"/>
              </a:spcBef>
              <a:spcAft>
                <a:spcPts val="0"/>
              </a:spcAft>
              <a:buClr>
                <a:srgbClr val="1B2733"/>
              </a:buClr>
              <a:buSzPts val="1200"/>
              <a:buChar char="●"/>
            </a:pPr>
            <a:r>
              <a:rPr b="1" lang="en" sz="1200">
                <a:solidFill>
                  <a:srgbClr val="1B2733"/>
                </a:solidFill>
              </a:rPr>
              <a:t>Tools:</a:t>
            </a:r>
            <a:r>
              <a:rPr lang="en" sz="1200">
                <a:solidFill>
                  <a:srgbClr val="1B2733"/>
                </a:solidFill>
              </a:rPr>
              <a:t> spreadsheets, email and a 20-year-old collections database with no single source of truth</a:t>
            </a:r>
            <a:endParaRPr sz="1200">
              <a:solidFill>
                <a:srgbClr val="1B2733"/>
              </a:solidFill>
            </a:endParaRPr>
          </a:p>
          <a:p>
            <a:pPr indent="-304800" lvl="0" marL="457200" rtl="0" algn="l">
              <a:spcBef>
                <a:spcPts val="0"/>
              </a:spcBef>
              <a:spcAft>
                <a:spcPts val="0"/>
              </a:spcAft>
              <a:buClr>
                <a:srgbClr val="1B2733"/>
              </a:buClr>
              <a:buSzPts val="1200"/>
              <a:buChar char="●"/>
            </a:pPr>
            <a:r>
              <a:rPr b="1" lang="en" sz="1200">
                <a:solidFill>
                  <a:srgbClr val="1B2733"/>
                </a:solidFill>
              </a:rPr>
              <a:t>Leakage we can trace:</a:t>
            </a:r>
            <a:r>
              <a:rPr lang="en" sz="1200">
                <a:solidFill>
                  <a:srgbClr val="1B2733"/>
                </a:solidFill>
              </a:rPr>
              <a:t> £500k a year lost to spreadsheet errors; at least 20% of follow-ups lost at shift hand-offs</a:t>
            </a:r>
            <a:endParaRPr sz="1200">
              <a:solidFill>
                <a:srgbClr val="1B2733"/>
              </a:solidFill>
            </a:endParaRPr>
          </a:p>
          <a:p>
            <a:pPr indent="-304800" lvl="0" marL="457200" rtl="0" algn="l">
              <a:spcBef>
                <a:spcPts val="0"/>
              </a:spcBef>
              <a:spcAft>
                <a:spcPts val="0"/>
              </a:spcAft>
              <a:buClr>
                <a:srgbClr val="1B2733"/>
              </a:buClr>
              <a:buSzPts val="1200"/>
              <a:buChar char="●"/>
            </a:pPr>
            <a:r>
              <a:rPr b="1" lang="en" sz="1200">
                <a:solidFill>
                  <a:srgbClr val="1B2733"/>
                </a:solidFill>
              </a:rPr>
              <a:t>Capacity:</a:t>
            </a:r>
            <a:r>
              <a:rPr lang="en" sz="1200">
                <a:solidFill>
                  <a:srgbClr val="1B2733"/>
                </a:solidFill>
              </a:rPr>
              <a:t> representatives spend up to 50% of their day finding information before a call</a:t>
            </a:r>
            <a:endParaRPr sz="1200">
              <a:solidFill>
                <a:srgbClr val="1B2733"/>
              </a:solidFill>
            </a:endParaRPr>
          </a:p>
          <a:p>
            <a:pPr indent="-304800" lvl="0" marL="457200" rtl="0" algn="l">
              <a:spcBef>
                <a:spcPts val="0"/>
              </a:spcBef>
              <a:spcAft>
                <a:spcPts val="0"/>
              </a:spcAft>
              <a:buClr>
                <a:srgbClr val="1B2733"/>
              </a:buClr>
              <a:buSzPts val="1200"/>
              <a:buChar char="●"/>
            </a:pPr>
            <a:r>
              <a:rPr lang="en" sz="1200">
                <a:solidFill>
                  <a:srgbClr val="1B2733"/>
                </a:solidFill>
              </a:rPr>
              <a:t>Reported revenue loss of about 15% is not yet confirmed by Finance, so the value case does not rely on it</a:t>
            </a:r>
            <a:endParaRPr sz="1200">
              <a:solidFill>
                <a:srgbClr val="1B2733"/>
              </a:solidFill>
            </a:endParaRPr>
          </a:p>
        </p:txBody>
      </p:sp>
      <p:sp>
        <p:nvSpPr>
          <p:cNvPr id="81" name="Google Shape;81;p14"/>
          <p:cNvSpPr/>
          <p:nvPr/>
        </p:nvSpPr>
        <p:spPr>
          <a:xfrm>
            <a:off x="5537200" y="1066800"/>
            <a:ext cx="1549500" cy="17082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14"/>
          <p:cNvSpPr txBox="1"/>
          <p:nvPr/>
        </p:nvSpPr>
        <p:spPr>
          <a:xfrm>
            <a:off x="5591000" y="1193800"/>
            <a:ext cx="15495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14558F"/>
                </a:solidFill>
              </a:rPr>
              <a:t>100,000+</a:t>
            </a:r>
            <a:endParaRPr b="1" sz="2400">
              <a:solidFill>
                <a:srgbClr val="14558F"/>
              </a:solidFill>
            </a:endParaRPr>
          </a:p>
        </p:txBody>
      </p:sp>
      <p:sp>
        <p:nvSpPr>
          <p:cNvPr id="83" name="Google Shape;83;p14"/>
          <p:cNvSpPr txBox="1"/>
          <p:nvPr/>
        </p:nvSpPr>
        <p:spPr>
          <a:xfrm>
            <a:off x="5638800" y="1676400"/>
            <a:ext cx="1346100" cy="10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5F6B76"/>
                </a:solidFill>
              </a:rPr>
              <a:t>delinquent accounts</a:t>
            </a:r>
            <a:endParaRPr sz="1000">
              <a:solidFill>
                <a:srgbClr val="5F6B76"/>
              </a:solidFill>
            </a:endParaRPr>
          </a:p>
        </p:txBody>
      </p:sp>
      <p:sp>
        <p:nvSpPr>
          <p:cNvPr id="84" name="Google Shape;84;p14"/>
          <p:cNvSpPr/>
          <p:nvPr/>
        </p:nvSpPr>
        <p:spPr>
          <a:xfrm>
            <a:off x="7239000" y="1066800"/>
            <a:ext cx="1549500" cy="17082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4"/>
          <p:cNvSpPr txBox="1"/>
          <p:nvPr/>
        </p:nvSpPr>
        <p:spPr>
          <a:xfrm>
            <a:off x="7340600" y="1193800"/>
            <a:ext cx="13461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14558F"/>
                </a:solidFill>
              </a:rPr>
              <a:t>~15%</a:t>
            </a:r>
            <a:endParaRPr b="1" sz="2400">
              <a:solidFill>
                <a:srgbClr val="14558F"/>
              </a:solidFill>
            </a:endParaRPr>
          </a:p>
        </p:txBody>
      </p:sp>
      <p:sp>
        <p:nvSpPr>
          <p:cNvPr id="86" name="Google Shape;86;p14"/>
          <p:cNvSpPr txBox="1"/>
          <p:nvPr/>
        </p:nvSpPr>
        <p:spPr>
          <a:xfrm>
            <a:off x="7340600" y="1676400"/>
            <a:ext cx="1346100" cy="10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5F6B76"/>
                </a:solidFill>
              </a:rPr>
              <a:t>revenue loss (reported, unconfirmed)</a:t>
            </a:r>
            <a:endParaRPr sz="1000">
              <a:solidFill>
                <a:srgbClr val="5F6B76"/>
              </a:solidFill>
            </a:endParaRPr>
          </a:p>
        </p:txBody>
      </p:sp>
      <p:sp>
        <p:nvSpPr>
          <p:cNvPr id="87" name="Google Shape;87;p14"/>
          <p:cNvSpPr/>
          <p:nvPr/>
        </p:nvSpPr>
        <p:spPr>
          <a:xfrm>
            <a:off x="5537200" y="2927350"/>
            <a:ext cx="1549500" cy="17082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4"/>
          <p:cNvSpPr txBox="1"/>
          <p:nvPr/>
        </p:nvSpPr>
        <p:spPr>
          <a:xfrm>
            <a:off x="5638800" y="3054350"/>
            <a:ext cx="13461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14558F"/>
                </a:solidFill>
              </a:rPr>
              <a:t>£500k</a:t>
            </a:r>
            <a:endParaRPr b="1" sz="2400">
              <a:solidFill>
                <a:srgbClr val="14558F"/>
              </a:solidFill>
            </a:endParaRPr>
          </a:p>
        </p:txBody>
      </p:sp>
      <p:sp>
        <p:nvSpPr>
          <p:cNvPr id="89" name="Google Shape;89;p14"/>
          <p:cNvSpPr txBox="1"/>
          <p:nvPr/>
        </p:nvSpPr>
        <p:spPr>
          <a:xfrm>
            <a:off x="5638800" y="3536950"/>
            <a:ext cx="1346100" cy="10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5F6B76"/>
                </a:solidFill>
              </a:rPr>
              <a:t>yearly loss from spreadsheet errors (SN-096)</a:t>
            </a:r>
            <a:endParaRPr sz="1000">
              <a:solidFill>
                <a:srgbClr val="5F6B76"/>
              </a:solidFill>
            </a:endParaRPr>
          </a:p>
        </p:txBody>
      </p:sp>
      <p:sp>
        <p:nvSpPr>
          <p:cNvPr id="90" name="Google Shape;90;p14"/>
          <p:cNvSpPr/>
          <p:nvPr/>
        </p:nvSpPr>
        <p:spPr>
          <a:xfrm>
            <a:off x="7239000" y="2927350"/>
            <a:ext cx="1549500" cy="17082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4"/>
          <p:cNvSpPr txBox="1"/>
          <p:nvPr/>
        </p:nvSpPr>
        <p:spPr>
          <a:xfrm>
            <a:off x="7340600" y="3054350"/>
            <a:ext cx="13461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14558F"/>
                </a:solidFill>
              </a:rPr>
              <a:t>20%+</a:t>
            </a:r>
            <a:endParaRPr b="1" sz="2400">
              <a:solidFill>
                <a:srgbClr val="14558F"/>
              </a:solidFill>
            </a:endParaRPr>
          </a:p>
        </p:txBody>
      </p:sp>
      <p:sp>
        <p:nvSpPr>
          <p:cNvPr id="92" name="Google Shape;92;p14"/>
          <p:cNvSpPr txBox="1"/>
          <p:nvPr/>
        </p:nvSpPr>
        <p:spPr>
          <a:xfrm>
            <a:off x="7340600" y="3536950"/>
            <a:ext cx="1346100" cy="10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5F6B76"/>
                </a:solidFill>
              </a:rPr>
              <a:t>follow-ups lost at shift hand-offs</a:t>
            </a:r>
            <a:endParaRPr sz="1000">
              <a:solidFill>
                <a:srgbClr val="5F6B7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p:nvPr/>
        </p:nvSpPr>
        <p:spPr>
          <a:xfrm>
            <a:off x="0" y="0"/>
            <a:ext cx="9144000" cy="1017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5"/>
          <p:cNvSpPr txBox="1"/>
          <p:nvPr/>
        </p:nvSpPr>
        <p:spPr>
          <a:xfrm>
            <a:off x="457200" y="228600"/>
            <a:ext cx="8229600" cy="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0B2A4A"/>
                </a:solidFill>
              </a:rPr>
              <a:t>Discovery shows duplicated work, missed follow-ups and no reliable view of status</a:t>
            </a:r>
            <a:endParaRPr b="1" sz="2200">
              <a:solidFill>
                <a:srgbClr val="0B2A4A"/>
              </a:solidFill>
            </a:endParaRPr>
          </a:p>
        </p:txBody>
      </p:sp>
      <p:sp>
        <p:nvSpPr>
          <p:cNvPr id="99" name="Google Shape;99;p15"/>
          <p:cNvSpPr txBox="1"/>
          <p:nvPr/>
        </p:nvSpPr>
        <p:spPr>
          <a:xfrm>
            <a:off x="457200" y="4813300"/>
            <a:ext cx="77217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F6B76"/>
                </a:solidFill>
              </a:rPr>
              <a:t>Source: discovery brief; current process impact analysis; finance assumptions (FA-06); stakeholder interview notes.</a:t>
            </a:r>
            <a:endParaRPr sz="800">
              <a:solidFill>
                <a:srgbClr val="5F6B76"/>
              </a:solidFill>
            </a:endParaRPr>
          </a:p>
        </p:txBody>
      </p:sp>
      <p:sp>
        <p:nvSpPr>
          <p:cNvPr id="100" name="Google Shape;100;p15"/>
          <p:cNvSpPr txBox="1"/>
          <p:nvPr/>
        </p:nvSpPr>
        <p:spPr>
          <a:xfrm>
            <a:off x="8382000" y="4813300"/>
            <a:ext cx="304800" cy="203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5F6B76"/>
                </a:solidFill>
              </a:rPr>
              <a:t>3</a:t>
            </a:r>
            <a:endParaRPr sz="900">
              <a:solidFill>
                <a:srgbClr val="5F6B76"/>
              </a:solidFill>
            </a:endParaRPr>
          </a:p>
        </p:txBody>
      </p:sp>
      <p:sp>
        <p:nvSpPr>
          <p:cNvPr id="101" name="Google Shape;101;p15"/>
          <p:cNvSpPr/>
          <p:nvPr/>
        </p:nvSpPr>
        <p:spPr>
          <a:xfrm>
            <a:off x="457200" y="1066800"/>
            <a:ext cx="13971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5"/>
          <p:cNvSpPr txBox="1"/>
          <p:nvPr/>
        </p:nvSpPr>
        <p:spPr>
          <a:xfrm>
            <a:off x="457200" y="1092200"/>
            <a:ext cx="1397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Pain point</a:t>
            </a:r>
            <a:endParaRPr b="1" sz="1000">
              <a:solidFill>
                <a:srgbClr val="FFFFFF"/>
              </a:solidFill>
            </a:endParaRPr>
          </a:p>
        </p:txBody>
      </p:sp>
      <p:sp>
        <p:nvSpPr>
          <p:cNvPr id="103" name="Google Shape;103;p15"/>
          <p:cNvSpPr/>
          <p:nvPr/>
        </p:nvSpPr>
        <p:spPr>
          <a:xfrm>
            <a:off x="1854200" y="1066800"/>
            <a:ext cx="45720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 name="Google Shape;104;p15"/>
          <p:cNvSpPr txBox="1"/>
          <p:nvPr/>
        </p:nvSpPr>
        <p:spPr>
          <a:xfrm>
            <a:off x="1854200" y="1092200"/>
            <a:ext cx="45720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Evidence</a:t>
            </a:r>
            <a:endParaRPr b="1" sz="1000">
              <a:solidFill>
                <a:srgbClr val="FFFFFF"/>
              </a:solidFill>
            </a:endParaRPr>
          </a:p>
        </p:txBody>
      </p:sp>
      <p:sp>
        <p:nvSpPr>
          <p:cNvPr id="105" name="Google Shape;105;p15"/>
          <p:cNvSpPr/>
          <p:nvPr/>
        </p:nvSpPr>
        <p:spPr>
          <a:xfrm>
            <a:off x="6426200" y="1066800"/>
            <a:ext cx="22605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5"/>
          <p:cNvSpPr txBox="1"/>
          <p:nvPr/>
        </p:nvSpPr>
        <p:spPr>
          <a:xfrm>
            <a:off x="6426200" y="1092200"/>
            <a:ext cx="22605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Source</a:t>
            </a:r>
            <a:endParaRPr b="1" sz="1000">
              <a:solidFill>
                <a:srgbClr val="FFFFFF"/>
              </a:solidFill>
            </a:endParaRPr>
          </a:p>
        </p:txBody>
      </p:sp>
      <p:sp>
        <p:nvSpPr>
          <p:cNvPr id="107" name="Google Shape;107;p15"/>
          <p:cNvSpPr/>
          <p:nvPr/>
        </p:nvSpPr>
        <p:spPr>
          <a:xfrm>
            <a:off x="457200" y="1384300"/>
            <a:ext cx="13971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15"/>
          <p:cNvSpPr txBox="1"/>
          <p:nvPr/>
        </p:nvSpPr>
        <p:spPr>
          <a:xfrm>
            <a:off x="457200" y="1409700"/>
            <a:ext cx="1397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Duplicate activity</a:t>
            </a:r>
            <a:endParaRPr sz="1000">
              <a:solidFill>
                <a:srgbClr val="1B2733"/>
              </a:solidFill>
            </a:endParaRPr>
          </a:p>
        </p:txBody>
      </p:sp>
      <p:sp>
        <p:nvSpPr>
          <p:cNvPr id="109" name="Google Shape;109;p15"/>
          <p:cNvSpPr/>
          <p:nvPr/>
        </p:nvSpPr>
        <p:spPr>
          <a:xfrm>
            <a:off x="1854200" y="1384300"/>
            <a:ext cx="45720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5"/>
          <p:cNvSpPr txBox="1"/>
          <p:nvPr/>
        </p:nvSpPr>
        <p:spPr>
          <a:xfrm>
            <a:off x="1854200" y="1409700"/>
            <a:ext cx="45720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2,020 of 9,890 logged activities flagged as duplicates (20%)</a:t>
            </a:r>
            <a:endParaRPr sz="1000">
              <a:solidFill>
                <a:srgbClr val="1B2733"/>
              </a:solidFill>
            </a:endParaRPr>
          </a:p>
        </p:txBody>
      </p:sp>
      <p:sp>
        <p:nvSpPr>
          <p:cNvPr id="111" name="Google Shape;111;p15"/>
          <p:cNvSpPr/>
          <p:nvPr/>
        </p:nvSpPr>
        <p:spPr>
          <a:xfrm>
            <a:off x="6426200" y="1384300"/>
            <a:ext cx="22605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5"/>
          <p:cNvSpPr txBox="1"/>
          <p:nvPr/>
        </p:nvSpPr>
        <p:spPr>
          <a:xfrm>
            <a:off x="6426200" y="1409700"/>
            <a:ext cx="22605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Activity tracker, first pass</a:t>
            </a:r>
            <a:endParaRPr sz="1000">
              <a:solidFill>
                <a:srgbClr val="1B2733"/>
              </a:solidFill>
            </a:endParaRPr>
          </a:p>
        </p:txBody>
      </p:sp>
      <p:sp>
        <p:nvSpPr>
          <p:cNvPr id="113" name="Google Shape;113;p15"/>
          <p:cNvSpPr/>
          <p:nvPr/>
        </p:nvSpPr>
        <p:spPr>
          <a:xfrm>
            <a:off x="457200" y="1701800"/>
            <a:ext cx="1397100" cy="482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5"/>
          <p:cNvSpPr txBox="1"/>
          <p:nvPr/>
        </p:nvSpPr>
        <p:spPr>
          <a:xfrm>
            <a:off x="457200" y="1727200"/>
            <a:ext cx="13971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Missed follow-ups</a:t>
            </a:r>
            <a:endParaRPr sz="1000">
              <a:solidFill>
                <a:srgbClr val="1B2733"/>
              </a:solidFill>
            </a:endParaRPr>
          </a:p>
        </p:txBody>
      </p:sp>
      <p:sp>
        <p:nvSpPr>
          <p:cNvPr id="115" name="Google Shape;115;p15"/>
          <p:cNvSpPr/>
          <p:nvPr/>
        </p:nvSpPr>
        <p:spPr>
          <a:xfrm>
            <a:off x="1854200" y="1701800"/>
            <a:ext cx="4572000" cy="482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5"/>
          <p:cNvSpPr txBox="1"/>
          <p:nvPr/>
        </p:nvSpPr>
        <p:spPr>
          <a:xfrm>
            <a:off x="1854200" y="1727200"/>
            <a:ext cx="45720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1,465 of 9,890 records (15%) have no next follow-up date; Finance estimates a 14% missed rate</a:t>
            </a:r>
            <a:endParaRPr sz="1000">
              <a:solidFill>
                <a:srgbClr val="1B2733"/>
              </a:solidFill>
            </a:endParaRPr>
          </a:p>
        </p:txBody>
      </p:sp>
      <p:sp>
        <p:nvSpPr>
          <p:cNvPr id="117" name="Google Shape;117;p15"/>
          <p:cNvSpPr/>
          <p:nvPr/>
        </p:nvSpPr>
        <p:spPr>
          <a:xfrm>
            <a:off x="6426200" y="1701800"/>
            <a:ext cx="2260500" cy="482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5"/>
          <p:cNvSpPr txBox="1"/>
          <p:nvPr/>
        </p:nvSpPr>
        <p:spPr>
          <a:xfrm>
            <a:off x="6426200" y="1727200"/>
            <a:ext cx="22605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Activity tracker; FA-06</a:t>
            </a:r>
            <a:endParaRPr sz="1000">
              <a:solidFill>
                <a:srgbClr val="1B2733"/>
              </a:solidFill>
            </a:endParaRPr>
          </a:p>
        </p:txBody>
      </p:sp>
      <p:sp>
        <p:nvSpPr>
          <p:cNvPr id="119" name="Google Shape;119;p15"/>
          <p:cNvSpPr/>
          <p:nvPr/>
        </p:nvSpPr>
        <p:spPr>
          <a:xfrm>
            <a:off x="457200" y="2184400"/>
            <a:ext cx="1397100" cy="482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15"/>
          <p:cNvSpPr txBox="1"/>
          <p:nvPr/>
        </p:nvSpPr>
        <p:spPr>
          <a:xfrm>
            <a:off x="457200" y="2209800"/>
            <a:ext cx="13971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Hunting for data</a:t>
            </a:r>
            <a:endParaRPr sz="1000">
              <a:solidFill>
                <a:srgbClr val="1B2733"/>
              </a:solidFill>
            </a:endParaRPr>
          </a:p>
        </p:txBody>
      </p:sp>
      <p:sp>
        <p:nvSpPr>
          <p:cNvPr id="121" name="Google Shape;121;p15"/>
          <p:cNvSpPr/>
          <p:nvPr/>
        </p:nvSpPr>
        <p:spPr>
          <a:xfrm>
            <a:off x="1854200" y="2184400"/>
            <a:ext cx="4572000" cy="482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15"/>
          <p:cNvSpPr txBox="1"/>
          <p:nvPr/>
        </p:nvSpPr>
        <p:spPr>
          <a:xfrm>
            <a:off x="1854200" y="2209800"/>
            <a:ext cx="45720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Up to 50% of the representative day spent searching spreadsheets, database screens and email</a:t>
            </a:r>
            <a:endParaRPr sz="1000">
              <a:solidFill>
                <a:srgbClr val="1B2733"/>
              </a:solidFill>
            </a:endParaRPr>
          </a:p>
        </p:txBody>
      </p:sp>
      <p:sp>
        <p:nvSpPr>
          <p:cNvPr id="123" name="Google Shape;123;p15"/>
          <p:cNvSpPr/>
          <p:nvPr/>
        </p:nvSpPr>
        <p:spPr>
          <a:xfrm>
            <a:off x="6426200" y="2184400"/>
            <a:ext cx="2260500" cy="482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15"/>
          <p:cNvSpPr txBox="1"/>
          <p:nvPr/>
        </p:nvSpPr>
        <p:spPr>
          <a:xfrm>
            <a:off x="6426200" y="2209800"/>
            <a:ext cx="22605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As-Is impact analysis</a:t>
            </a:r>
            <a:endParaRPr sz="1000">
              <a:solidFill>
                <a:srgbClr val="1B2733"/>
              </a:solidFill>
            </a:endParaRPr>
          </a:p>
        </p:txBody>
      </p:sp>
      <p:sp>
        <p:nvSpPr>
          <p:cNvPr id="125" name="Google Shape;125;p15"/>
          <p:cNvSpPr/>
          <p:nvPr/>
        </p:nvSpPr>
        <p:spPr>
          <a:xfrm>
            <a:off x="457200" y="2667000"/>
            <a:ext cx="1397100" cy="482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15"/>
          <p:cNvSpPr txBox="1"/>
          <p:nvPr/>
        </p:nvSpPr>
        <p:spPr>
          <a:xfrm>
            <a:off x="457200" y="2692400"/>
            <a:ext cx="13971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Repeat contact</a:t>
            </a:r>
            <a:endParaRPr sz="1000">
              <a:solidFill>
                <a:srgbClr val="1B2733"/>
              </a:solidFill>
            </a:endParaRPr>
          </a:p>
        </p:txBody>
      </p:sp>
      <p:sp>
        <p:nvSpPr>
          <p:cNvPr id="127" name="Google Shape;127;p15"/>
          <p:cNvSpPr/>
          <p:nvPr/>
        </p:nvSpPr>
        <p:spPr>
          <a:xfrm>
            <a:off x="1854200" y="2667000"/>
            <a:ext cx="4572000" cy="482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5"/>
          <p:cNvSpPr txBox="1"/>
          <p:nvPr/>
        </p:nvSpPr>
        <p:spPr>
          <a:xfrm>
            <a:off x="1854200" y="2692400"/>
            <a:ext cx="45720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Customers are called repeatedly and must re-explain; stakeholders say they call back about three times</a:t>
            </a:r>
            <a:endParaRPr sz="1000">
              <a:solidFill>
                <a:srgbClr val="1B2733"/>
              </a:solidFill>
            </a:endParaRPr>
          </a:p>
        </p:txBody>
      </p:sp>
      <p:sp>
        <p:nvSpPr>
          <p:cNvPr id="129" name="Google Shape;129;p15"/>
          <p:cNvSpPr/>
          <p:nvPr/>
        </p:nvSpPr>
        <p:spPr>
          <a:xfrm>
            <a:off x="6426200" y="2667000"/>
            <a:ext cx="2260500" cy="482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15"/>
          <p:cNvSpPr txBox="1"/>
          <p:nvPr/>
        </p:nvSpPr>
        <p:spPr>
          <a:xfrm>
            <a:off x="6426200" y="2692400"/>
            <a:ext cx="22605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As-Is analysis; stakeholder note SN-002</a:t>
            </a:r>
            <a:endParaRPr sz="1000">
              <a:solidFill>
                <a:srgbClr val="1B2733"/>
              </a:solidFill>
            </a:endParaRPr>
          </a:p>
        </p:txBody>
      </p:sp>
      <p:sp>
        <p:nvSpPr>
          <p:cNvPr id="131" name="Google Shape;131;p15"/>
          <p:cNvSpPr/>
          <p:nvPr/>
        </p:nvSpPr>
        <p:spPr>
          <a:xfrm>
            <a:off x="457200" y="3149600"/>
            <a:ext cx="1397100" cy="482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5"/>
          <p:cNvSpPr txBox="1"/>
          <p:nvPr/>
        </p:nvSpPr>
        <p:spPr>
          <a:xfrm>
            <a:off x="457200" y="3175000"/>
            <a:ext cx="13971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Manager visibility</a:t>
            </a:r>
            <a:endParaRPr sz="1000">
              <a:solidFill>
                <a:srgbClr val="1B2733"/>
              </a:solidFill>
            </a:endParaRPr>
          </a:p>
        </p:txBody>
      </p:sp>
      <p:sp>
        <p:nvSpPr>
          <p:cNvPr id="133" name="Google Shape;133;p15"/>
          <p:cNvSpPr/>
          <p:nvPr/>
        </p:nvSpPr>
        <p:spPr>
          <a:xfrm>
            <a:off x="1854200" y="3149600"/>
            <a:ext cx="4572000" cy="482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15"/>
          <p:cNvSpPr txBox="1"/>
          <p:nvPr/>
        </p:nvSpPr>
        <p:spPr>
          <a:xfrm>
            <a:off x="1854200" y="3175000"/>
            <a:ext cx="45720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Managers reconcile counts that never match and defend unreliable numbers</a:t>
            </a:r>
            <a:endParaRPr sz="1000">
              <a:solidFill>
                <a:srgbClr val="1B2733"/>
              </a:solidFill>
            </a:endParaRPr>
          </a:p>
        </p:txBody>
      </p:sp>
      <p:sp>
        <p:nvSpPr>
          <p:cNvPr id="135" name="Google Shape;135;p15"/>
          <p:cNvSpPr/>
          <p:nvPr/>
        </p:nvSpPr>
        <p:spPr>
          <a:xfrm>
            <a:off x="6426200" y="3149600"/>
            <a:ext cx="2260500" cy="482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15"/>
          <p:cNvSpPr txBox="1"/>
          <p:nvPr/>
        </p:nvSpPr>
        <p:spPr>
          <a:xfrm>
            <a:off x="6426200" y="3175000"/>
            <a:ext cx="22605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As-Is impact analysis</a:t>
            </a:r>
            <a:endParaRPr sz="1000">
              <a:solidFill>
                <a:srgbClr val="1B2733"/>
              </a:solidFill>
            </a:endParaRPr>
          </a:p>
        </p:txBody>
      </p:sp>
      <p:sp>
        <p:nvSpPr>
          <p:cNvPr id="137" name="Google Shape;137;p15"/>
          <p:cNvSpPr/>
          <p:nvPr/>
        </p:nvSpPr>
        <p:spPr>
          <a:xfrm>
            <a:off x="457200" y="4152900"/>
            <a:ext cx="8229600" cy="5079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5"/>
          <p:cNvSpPr txBox="1"/>
          <p:nvPr/>
        </p:nvSpPr>
        <p:spPr>
          <a:xfrm>
            <a:off x="584250" y="4203600"/>
            <a:ext cx="79755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0B2A4A"/>
                </a:solidFill>
              </a:rPr>
              <a:t>Priority needs (JTBD): JTBD-02 self-service balance and repayment, JTBD-04 automatic case update, JTBD-05 triage of simple vs complex cases.</a:t>
            </a:r>
            <a:endParaRPr b="1" sz="1100">
              <a:solidFill>
                <a:srgbClr val="0B2A4A"/>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p:nvPr/>
        </p:nvSpPr>
        <p:spPr>
          <a:xfrm>
            <a:off x="0" y="0"/>
            <a:ext cx="9144000" cy="1017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16"/>
          <p:cNvSpPr txBox="1"/>
          <p:nvPr/>
        </p:nvSpPr>
        <p:spPr>
          <a:xfrm>
            <a:off x="457200" y="228600"/>
            <a:ext cx="8229600" cy="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0B2A4A"/>
                </a:solidFill>
              </a:rPr>
              <a:t>Three focused projects return about £1.2M net on a £175k build</a:t>
            </a:r>
            <a:endParaRPr b="1" sz="2200">
              <a:solidFill>
                <a:srgbClr val="0B2A4A"/>
              </a:solidFill>
            </a:endParaRPr>
          </a:p>
        </p:txBody>
      </p:sp>
      <p:sp>
        <p:nvSpPr>
          <p:cNvPr id="145" name="Google Shape;145;p16"/>
          <p:cNvSpPr txBox="1"/>
          <p:nvPr/>
        </p:nvSpPr>
        <p:spPr>
          <a:xfrm>
            <a:off x="457200" y="4813300"/>
            <a:ext cx="77217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F6B76"/>
                </a:solidFill>
              </a:rPr>
              <a:t>Source: ROI summary and ROI calculations (Week 1); finance assumptions FA-01, FA-07, FA-10, FA-11. Recovery uplift is Low/Medium confidence (FA-07).</a:t>
            </a:r>
            <a:endParaRPr sz="800">
              <a:solidFill>
                <a:srgbClr val="5F6B76"/>
              </a:solidFill>
            </a:endParaRPr>
          </a:p>
        </p:txBody>
      </p:sp>
      <p:sp>
        <p:nvSpPr>
          <p:cNvPr id="146" name="Google Shape;146;p16"/>
          <p:cNvSpPr txBox="1"/>
          <p:nvPr/>
        </p:nvSpPr>
        <p:spPr>
          <a:xfrm>
            <a:off x="8382000" y="4813300"/>
            <a:ext cx="304800" cy="203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5F6B76"/>
                </a:solidFill>
              </a:rPr>
              <a:t>4</a:t>
            </a:r>
            <a:endParaRPr sz="900">
              <a:solidFill>
                <a:srgbClr val="5F6B76"/>
              </a:solidFill>
            </a:endParaRPr>
          </a:p>
        </p:txBody>
      </p:sp>
      <p:sp>
        <p:nvSpPr>
          <p:cNvPr id="147" name="Google Shape;147;p16"/>
          <p:cNvSpPr/>
          <p:nvPr/>
        </p:nvSpPr>
        <p:spPr>
          <a:xfrm>
            <a:off x="457200" y="1066800"/>
            <a:ext cx="27177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16"/>
          <p:cNvSpPr txBox="1"/>
          <p:nvPr/>
        </p:nvSpPr>
        <p:spPr>
          <a:xfrm>
            <a:off x="457200" y="1092200"/>
            <a:ext cx="27177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Opportunity (ROI rank)</a:t>
            </a:r>
            <a:endParaRPr b="1" sz="1000">
              <a:solidFill>
                <a:srgbClr val="FFFFFF"/>
              </a:solidFill>
            </a:endParaRPr>
          </a:p>
        </p:txBody>
      </p:sp>
      <p:sp>
        <p:nvSpPr>
          <p:cNvPr id="149" name="Google Shape;149;p16"/>
          <p:cNvSpPr/>
          <p:nvPr/>
        </p:nvSpPr>
        <p:spPr>
          <a:xfrm>
            <a:off x="3175000" y="1066800"/>
            <a:ext cx="9651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16"/>
          <p:cNvSpPr txBox="1"/>
          <p:nvPr/>
        </p:nvSpPr>
        <p:spPr>
          <a:xfrm>
            <a:off x="3175000" y="1092200"/>
            <a:ext cx="965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Benefit</a:t>
            </a:r>
            <a:endParaRPr b="1" sz="1000">
              <a:solidFill>
                <a:srgbClr val="FFFFFF"/>
              </a:solidFill>
            </a:endParaRPr>
          </a:p>
        </p:txBody>
      </p:sp>
      <p:sp>
        <p:nvSpPr>
          <p:cNvPr id="151" name="Google Shape;151;p16"/>
          <p:cNvSpPr/>
          <p:nvPr/>
        </p:nvSpPr>
        <p:spPr>
          <a:xfrm>
            <a:off x="4140200" y="1066800"/>
            <a:ext cx="7365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16"/>
          <p:cNvSpPr txBox="1"/>
          <p:nvPr/>
        </p:nvSpPr>
        <p:spPr>
          <a:xfrm>
            <a:off x="4140200" y="1092200"/>
            <a:ext cx="7365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Cost</a:t>
            </a:r>
            <a:endParaRPr b="1" sz="1000">
              <a:solidFill>
                <a:srgbClr val="FFFFFF"/>
              </a:solidFill>
            </a:endParaRPr>
          </a:p>
        </p:txBody>
      </p:sp>
      <p:sp>
        <p:nvSpPr>
          <p:cNvPr id="153" name="Google Shape;153;p16"/>
          <p:cNvSpPr/>
          <p:nvPr/>
        </p:nvSpPr>
        <p:spPr>
          <a:xfrm>
            <a:off x="4876800" y="1066800"/>
            <a:ext cx="9651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6"/>
          <p:cNvSpPr txBox="1"/>
          <p:nvPr/>
        </p:nvSpPr>
        <p:spPr>
          <a:xfrm>
            <a:off x="4876800" y="1092200"/>
            <a:ext cx="965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Net benefit</a:t>
            </a:r>
            <a:endParaRPr b="1" sz="1000">
              <a:solidFill>
                <a:srgbClr val="FFFFFF"/>
              </a:solidFill>
            </a:endParaRPr>
          </a:p>
        </p:txBody>
      </p:sp>
      <p:sp>
        <p:nvSpPr>
          <p:cNvPr id="155" name="Google Shape;155;p16"/>
          <p:cNvSpPr/>
          <p:nvPr/>
        </p:nvSpPr>
        <p:spPr>
          <a:xfrm>
            <a:off x="5842000" y="1066800"/>
            <a:ext cx="6603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16"/>
          <p:cNvSpPr txBox="1"/>
          <p:nvPr/>
        </p:nvSpPr>
        <p:spPr>
          <a:xfrm>
            <a:off x="5842000" y="1092200"/>
            <a:ext cx="6603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ROI</a:t>
            </a:r>
            <a:endParaRPr b="1" sz="1000">
              <a:solidFill>
                <a:srgbClr val="FFFFFF"/>
              </a:solidFill>
            </a:endParaRPr>
          </a:p>
        </p:txBody>
      </p:sp>
      <p:sp>
        <p:nvSpPr>
          <p:cNvPr id="157" name="Google Shape;157;p16"/>
          <p:cNvSpPr/>
          <p:nvPr/>
        </p:nvSpPr>
        <p:spPr>
          <a:xfrm>
            <a:off x="6502400" y="1066800"/>
            <a:ext cx="7365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16"/>
          <p:cNvSpPr txBox="1"/>
          <p:nvPr/>
        </p:nvSpPr>
        <p:spPr>
          <a:xfrm>
            <a:off x="6502400" y="1092200"/>
            <a:ext cx="7365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Payback</a:t>
            </a:r>
            <a:endParaRPr b="1" sz="1000">
              <a:solidFill>
                <a:srgbClr val="FFFFFF"/>
              </a:solidFill>
            </a:endParaRPr>
          </a:p>
        </p:txBody>
      </p:sp>
      <p:sp>
        <p:nvSpPr>
          <p:cNvPr id="159" name="Google Shape;159;p16"/>
          <p:cNvSpPr/>
          <p:nvPr/>
        </p:nvSpPr>
        <p:spPr>
          <a:xfrm>
            <a:off x="7239000" y="1066800"/>
            <a:ext cx="14478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16"/>
          <p:cNvSpPr txBox="1"/>
          <p:nvPr/>
        </p:nvSpPr>
        <p:spPr>
          <a:xfrm>
            <a:off x="7239000" y="1092200"/>
            <a:ext cx="14478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Confidence</a:t>
            </a:r>
            <a:endParaRPr b="1" sz="1000">
              <a:solidFill>
                <a:srgbClr val="FFFFFF"/>
              </a:solidFill>
            </a:endParaRPr>
          </a:p>
        </p:txBody>
      </p:sp>
      <p:sp>
        <p:nvSpPr>
          <p:cNvPr id="161" name="Google Shape;161;p16"/>
          <p:cNvSpPr/>
          <p:nvPr/>
        </p:nvSpPr>
        <p:spPr>
          <a:xfrm>
            <a:off x="457200" y="1384300"/>
            <a:ext cx="27177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16"/>
          <p:cNvSpPr txBox="1"/>
          <p:nvPr/>
        </p:nvSpPr>
        <p:spPr>
          <a:xfrm>
            <a:off x="457200" y="1409700"/>
            <a:ext cx="27177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#1 OPT-04 Status sync (case update)</a:t>
            </a:r>
            <a:endParaRPr sz="1000">
              <a:solidFill>
                <a:srgbClr val="1B2733"/>
              </a:solidFill>
            </a:endParaRPr>
          </a:p>
        </p:txBody>
      </p:sp>
      <p:sp>
        <p:nvSpPr>
          <p:cNvPr id="163" name="Google Shape;163;p16"/>
          <p:cNvSpPr/>
          <p:nvPr/>
        </p:nvSpPr>
        <p:spPr>
          <a:xfrm>
            <a:off x="3175000" y="1384300"/>
            <a:ext cx="9651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16"/>
          <p:cNvSpPr txBox="1"/>
          <p:nvPr/>
        </p:nvSpPr>
        <p:spPr>
          <a:xfrm>
            <a:off x="3175000" y="1409700"/>
            <a:ext cx="965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£685,000</a:t>
            </a:r>
            <a:endParaRPr sz="1000">
              <a:solidFill>
                <a:srgbClr val="1B2733"/>
              </a:solidFill>
            </a:endParaRPr>
          </a:p>
        </p:txBody>
      </p:sp>
      <p:sp>
        <p:nvSpPr>
          <p:cNvPr id="165" name="Google Shape;165;p16"/>
          <p:cNvSpPr/>
          <p:nvPr/>
        </p:nvSpPr>
        <p:spPr>
          <a:xfrm>
            <a:off x="4140200" y="1384300"/>
            <a:ext cx="7365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16"/>
          <p:cNvSpPr txBox="1"/>
          <p:nvPr/>
        </p:nvSpPr>
        <p:spPr>
          <a:xfrm>
            <a:off x="4140200" y="1409700"/>
            <a:ext cx="7365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£45,000</a:t>
            </a:r>
            <a:endParaRPr sz="1000">
              <a:solidFill>
                <a:srgbClr val="1B2733"/>
              </a:solidFill>
            </a:endParaRPr>
          </a:p>
        </p:txBody>
      </p:sp>
      <p:sp>
        <p:nvSpPr>
          <p:cNvPr id="167" name="Google Shape;167;p16"/>
          <p:cNvSpPr/>
          <p:nvPr/>
        </p:nvSpPr>
        <p:spPr>
          <a:xfrm>
            <a:off x="4876800" y="1384300"/>
            <a:ext cx="9651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16"/>
          <p:cNvSpPr txBox="1"/>
          <p:nvPr/>
        </p:nvSpPr>
        <p:spPr>
          <a:xfrm>
            <a:off x="4876800" y="1409700"/>
            <a:ext cx="965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£640,000</a:t>
            </a:r>
            <a:endParaRPr sz="1000">
              <a:solidFill>
                <a:srgbClr val="1B2733"/>
              </a:solidFill>
            </a:endParaRPr>
          </a:p>
        </p:txBody>
      </p:sp>
      <p:sp>
        <p:nvSpPr>
          <p:cNvPr id="169" name="Google Shape;169;p16"/>
          <p:cNvSpPr/>
          <p:nvPr/>
        </p:nvSpPr>
        <p:spPr>
          <a:xfrm>
            <a:off x="5842000" y="1384300"/>
            <a:ext cx="6603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16"/>
          <p:cNvSpPr txBox="1"/>
          <p:nvPr/>
        </p:nvSpPr>
        <p:spPr>
          <a:xfrm>
            <a:off x="5842000" y="1409700"/>
            <a:ext cx="6603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1,422%</a:t>
            </a:r>
            <a:endParaRPr sz="1000">
              <a:solidFill>
                <a:srgbClr val="1B2733"/>
              </a:solidFill>
            </a:endParaRPr>
          </a:p>
        </p:txBody>
      </p:sp>
      <p:sp>
        <p:nvSpPr>
          <p:cNvPr id="171" name="Google Shape;171;p16"/>
          <p:cNvSpPr/>
          <p:nvPr/>
        </p:nvSpPr>
        <p:spPr>
          <a:xfrm>
            <a:off x="6502400" y="1384300"/>
            <a:ext cx="7365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16"/>
          <p:cNvSpPr txBox="1"/>
          <p:nvPr/>
        </p:nvSpPr>
        <p:spPr>
          <a:xfrm>
            <a:off x="6502400" y="1409700"/>
            <a:ext cx="7365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0.8 mo</a:t>
            </a:r>
            <a:endParaRPr sz="1000">
              <a:solidFill>
                <a:srgbClr val="1B2733"/>
              </a:solidFill>
            </a:endParaRPr>
          </a:p>
        </p:txBody>
      </p:sp>
      <p:sp>
        <p:nvSpPr>
          <p:cNvPr id="173" name="Google Shape;173;p16"/>
          <p:cNvSpPr/>
          <p:nvPr/>
        </p:nvSpPr>
        <p:spPr>
          <a:xfrm>
            <a:off x="7239000" y="1384300"/>
            <a:ext cx="14478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16"/>
          <p:cNvSpPr txBox="1"/>
          <p:nvPr/>
        </p:nvSpPr>
        <p:spPr>
          <a:xfrm>
            <a:off x="7239000" y="1409700"/>
            <a:ext cx="14478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High</a:t>
            </a:r>
            <a:endParaRPr sz="1000">
              <a:solidFill>
                <a:srgbClr val="1B2733"/>
              </a:solidFill>
            </a:endParaRPr>
          </a:p>
        </p:txBody>
      </p:sp>
      <p:sp>
        <p:nvSpPr>
          <p:cNvPr id="175" name="Google Shape;175;p16"/>
          <p:cNvSpPr/>
          <p:nvPr/>
        </p:nvSpPr>
        <p:spPr>
          <a:xfrm>
            <a:off x="457200" y="1701800"/>
            <a:ext cx="27177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16"/>
          <p:cNvSpPr txBox="1"/>
          <p:nvPr/>
        </p:nvSpPr>
        <p:spPr>
          <a:xfrm>
            <a:off x="457200" y="1727200"/>
            <a:ext cx="27177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#4 OPT-02 Self-service repayment</a:t>
            </a:r>
            <a:endParaRPr sz="1000">
              <a:solidFill>
                <a:srgbClr val="1B2733"/>
              </a:solidFill>
            </a:endParaRPr>
          </a:p>
        </p:txBody>
      </p:sp>
      <p:sp>
        <p:nvSpPr>
          <p:cNvPr id="177" name="Google Shape;177;p16"/>
          <p:cNvSpPr/>
          <p:nvPr/>
        </p:nvSpPr>
        <p:spPr>
          <a:xfrm>
            <a:off x="3175000" y="1701800"/>
            <a:ext cx="9651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16"/>
          <p:cNvSpPr txBox="1"/>
          <p:nvPr/>
        </p:nvSpPr>
        <p:spPr>
          <a:xfrm>
            <a:off x="3175000" y="1727200"/>
            <a:ext cx="965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£430,000</a:t>
            </a:r>
            <a:endParaRPr sz="1000">
              <a:solidFill>
                <a:srgbClr val="1B2733"/>
              </a:solidFill>
            </a:endParaRPr>
          </a:p>
        </p:txBody>
      </p:sp>
      <p:sp>
        <p:nvSpPr>
          <p:cNvPr id="179" name="Google Shape;179;p16"/>
          <p:cNvSpPr/>
          <p:nvPr/>
        </p:nvSpPr>
        <p:spPr>
          <a:xfrm>
            <a:off x="4140200" y="1701800"/>
            <a:ext cx="7365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16"/>
          <p:cNvSpPr txBox="1"/>
          <p:nvPr/>
        </p:nvSpPr>
        <p:spPr>
          <a:xfrm>
            <a:off x="4140200" y="1727200"/>
            <a:ext cx="7365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£85,000</a:t>
            </a:r>
            <a:endParaRPr sz="1000">
              <a:solidFill>
                <a:srgbClr val="1B2733"/>
              </a:solidFill>
            </a:endParaRPr>
          </a:p>
        </p:txBody>
      </p:sp>
      <p:sp>
        <p:nvSpPr>
          <p:cNvPr id="181" name="Google Shape;181;p16"/>
          <p:cNvSpPr/>
          <p:nvPr/>
        </p:nvSpPr>
        <p:spPr>
          <a:xfrm>
            <a:off x="4876800" y="1701800"/>
            <a:ext cx="9651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16"/>
          <p:cNvSpPr txBox="1"/>
          <p:nvPr/>
        </p:nvSpPr>
        <p:spPr>
          <a:xfrm>
            <a:off x="4876800" y="1727200"/>
            <a:ext cx="965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£345,000</a:t>
            </a:r>
            <a:endParaRPr sz="1000">
              <a:solidFill>
                <a:srgbClr val="1B2733"/>
              </a:solidFill>
            </a:endParaRPr>
          </a:p>
        </p:txBody>
      </p:sp>
      <p:sp>
        <p:nvSpPr>
          <p:cNvPr id="183" name="Google Shape;183;p16"/>
          <p:cNvSpPr/>
          <p:nvPr/>
        </p:nvSpPr>
        <p:spPr>
          <a:xfrm>
            <a:off x="5842000" y="1701800"/>
            <a:ext cx="6603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 name="Google Shape;184;p16"/>
          <p:cNvSpPr txBox="1"/>
          <p:nvPr/>
        </p:nvSpPr>
        <p:spPr>
          <a:xfrm>
            <a:off x="5842000" y="1727200"/>
            <a:ext cx="6603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406%</a:t>
            </a:r>
            <a:endParaRPr sz="1000">
              <a:solidFill>
                <a:srgbClr val="1B2733"/>
              </a:solidFill>
            </a:endParaRPr>
          </a:p>
        </p:txBody>
      </p:sp>
      <p:sp>
        <p:nvSpPr>
          <p:cNvPr id="185" name="Google Shape;185;p16"/>
          <p:cNvSpPr/>
          <p:nvPr/>
        </p:nvSpPr>
        <p:spPr>
          <a:xfrm>
            <a:off x="6502400" y="1701800"/>
            <a:ext cx="7365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16"/>
          <p:cNvSpPr txBox="1"/>
          <p:nvPr/>
        </p:nvSpPr>
        <p:spPr>
          <a:xfrm>
            <a:off x="6502400" y="1727200"/>
            <a:ext cx="7365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1.3 mo</a:t>
            </a:r>
            <a:endParaRPr sz="1000">
              <a:solidFill>
                <a:srgbClr val="1B2733"/>
              </a:solidFill>
            </a:endParaRPr>
          </a:p>
        </p:txBody>
      </p:sp>
      <p:sp>
        <p:nvSpPr>
          <p:cNvPr id="187" name="Google Shape;187;p16"/>
          <p:cNvSpPr/>
          <p:nvPr/>
        </p:nvSpPr>
        <p:spPr>
          <a:xfrm>
            <a:off x="7239000" y="1701800"/>
            <a:ext cx="14478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16"/>
          <p:cNvSpPr txBox="1"/>
          <p:nvPr/>
        </p:nvSpPr>
        <p:spPr>
          <a:xfrm>
            <a:off x="7239000" y="1727200"/>
            <a:ext cx="14478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Medium</a:t>
            </a:r>
            <a:endParaRPr sz="1000">
              <a:solidFill>
                <a:srgbClr val="1B2733"/>
              </a:solidFill>
            </a:endParaRPr>
          </a:p>
        </p:txBody>
      </p:sp>
      <p:sp>
        <p:nvSpPr>
          <p:cNvPr id="189" name="Google Shape;189;p16"/>
          <p:cNvSpPr/>
          <p:nvPr/>
        </p:nvSpPr>
        <p:spPr>
          <a:xfrm>
            <a:off x="457200" y="2019300"/>
            <a:ext cx="27177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16"/>
          <p:cNvSpPr txBox="1"/>
          <p:nvPr/>
        </p:nvSpPr>
        <p:spPr>
          <a:xfrm>
            <a:off x="457200" y="2044700"/>
            <a:ext cx="27177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#3 OPT-01 Automated account triage</a:t>
            </a:r>
            <a:endParaRPr sz="1000">
              <a:solidFill>
                <a:srgbClr val="1B2733"/>
              </a:solidFill>
            </a:endParaRPr>
          </a:p>
        </p:txBody>
      </p:sp>
      <p:sp>
        <p:nvSpPr>
          <p:cNvPr id="191" name="Google Shape;191;p16"/>
          <p:cNvSpPr/>
          <p:nvPr/>
        </p:nvSpPr>
        <p:spPr>
          <a:xfrm>
            <a:off x="3175000" y="2019300"/>
            <a:ext cx="9651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16"/>
          <p:cNvSpPr txBox="1"/>
          <p:nvPr/>
        </p:nvSpPr>
        <p:spPr>
          <a:xfrm>
            <a:off x="3175000" y="2044700"/>
            <a:ext cx="965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£290,000</a:t>
            </a:r>
            <a:endParaRPr sz="1000">
              <a:solidFill>
                <a:srgbClr val="1B2733"/>
              </a:solidFill>
            </a:endParaRPr>
          </a:p>
        </p:txBody>
      </p:sp>
      <p:sp>
        <p:nvSpPr>
          <p:cNvPr id="193" name="Google Shape;193;p16"/>
          <p:cNvSpPr/>
          <p:nvPr/>
        </p:nvSpPr>
        <p:spPr>
          <a:xfrm>
            <a:off x="4140200" y="2019300"/>
            <a:ext cx="7365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16"/>
          <p:cNvSpPr txBox="1"/>
          <p:nvPr/>
        </p:nvSpPr>
        <p:spPr>
          <a:xfrm>
            <a:off x="4140200" y="2044700"/>
            <a:ext cx="7365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£45,000</a:t>
            </a:r>
            <a:endParaRPr sz="1000">
              <a:solidFill>
                <a:srgbClr val="1B2733"/>
              </a:solidFill>
            </a:endParaRPr>
          </a:p>
        </p:txBody>
      </p:sp>
      <p:sp>
        <p:nvSpPr>
          <p:cNvPr id="195" name="Google Shape;195;p16"/>
          <p:cNvSpPr/>
          <p:nvPr/>
        </p:nvSpPr>
        <p:spPr>
          <a:xfrm>
            <a:off x="4876800" y="2019300"/>
            <a:ext cx="9651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16"/>
          <p:cNvSpPr txBox="1"/>
          <p:nvPr/>
        </p:nvSpPr>
        <p:spPr>
          <a:xfrm>
            <a:off x="4876800" y="2044700"/>
            <a:ext cx="965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£245,000</a:t>
            </a:r>
            <a:endParaRPr sz="1000">
              <a:solidFill>
                <a:srgbClr val="1B2733"/>
              </a:solidFill>
            </a:endParaRPr>
          </a:p>
        </p:txBody>
      </p:sp>
      <p:sp>
        <p:nvSpPr>
          <p:cNvPr id="197" name="Google Shape;197;p16"/>
          <p:cNvSpPr/>
          <p:nvPr/>
        </p:nvSpPr>
        <p:spPr>
          <a:xfrm>
            <a:off x="5842000" y="2019300"/>
            <a:ext cx="6603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16"/>
          <p:cNvSpPr txBox="1"/>
          <p:nvPr/>
        </p:nvSpPr>
        <p:spPr>
          <a:xfrm>
            <a:off x="5842000" y="2044700"/>
            <a:ext cx="6603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544%</a:t>
            </a:r>
            <a:endParaRPr sz="1000">
              <a:solidFill>
                <a:srgbClr val="1B2733"/>
              </a:solidFill>
            </a:endParaRPr>
          </a:p>
        </p:txBody>
      </p:sp>
      <p:sp>
        <p:nvSpPr>
          <p:cNvPr id="199" name="Google Shape;199;p16"/>
          <p:cNvSpPr/>
          <p:nvPr/>
        </p:nvSpPr>
        <p:spPr>
          <a:xfrm>
            <a:off x="6502400" y="2019300"/>
            <a:ext cx="7365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16"/>
          <p:cNvSpPr txBox="1"/>
          <p:nvPr/>
        </p:nvSpPr>
        <p:spPr>
          <a:xfrm>
            <a:off x="6502400" y="2044700"/>
            <a:ext cx="7365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1.9 mo</a:t>
            </a:r>
            <a:endParaRPr sz="1000">
              <a:solidFill>
                <a:srgbClr val="1B2733"/>
              </a:solidFill>
            </a:endParaRPr>
          </a:p>
        </p:txBody>
      </p:sp>
      <p:sp>
        <p:nvSpPr>
          <p:cNvPr id="201" name="Google Shape;201;p16"/>
          <p:cNvSpPr/>
          <p:nvPr/>
        </p:nvSpPr>
        <p:spPr>
          <a:xfrm>
            <a:off x="7239000" y="2019300"/>
            <a:ext cx="14478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16"/>
          <p:cNvSpPr txBox="1"/>
          <p:nvPr/>
        </p:nvSpPr>
        <p:spPr>
          <a:xfrm>
            <a:off x="7239000" y="2044700"/>
            <a:ext cx="14478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High</a:t>
            </a:r>
            <a:endParaRPr sz="1000">
              <a:solidFill>
                <a:srgbClr val="1B2733"/>
              </a:solidFill>
            </a:endParaRPr>
          </a:p>
        </p:txBody>
      </p:sp>
      <p:sp>
        <p:nvSpPr>
          <p:cNvPr id="203" name="Google Shape;203;p16"/>
          <p:cNvSpPr/>
          <p:nvPr/>
        </p:nvSpPr>
        <p:spPr>
          <a:xfrm>
            <a:off x="457200" y="2336800"/>
            <a:ext cx="27177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16"/>
          <p:cNvSpPr txBox="1"/>
          <p:nvPr/>
        </p:nvSpPr>
        <p:spPr>
          <a:xfrm>
            <a:off x="457200" y="2362200"/>
            <a:ext cx="27177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1B2733"/>
                </a:solidFill>
              </a:rPr>
              <a:t>Phase 1 total (derived)</a:t>
            </a:r>
            <a:endParaRPr b="1" sz="1000">
              <a:solidFill>
                <a:srgbClr val="1B2733"/>
              </a:solidFill>
            </a:endParaRPr>
          </a:p>
        </p:txBody>
      </p:sp>
      <p:sp>
        <p:nvSpPr>
          <p:cNvPr id="205" name="Google Shape;205;p16"/>
          <p:cNvSpPr/>
          <p:nvPr/>
        </p:nvSpPr>
        <p:spPr>
          <a:xfrm>
            <a:off x="3175000" y="2336800"/>
            <a:ext cx="9651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16"/>
          <p:cNvSpPr txBox="1"/>
          <p:nvPr/>
        </p:nvSpPr>
        <p:spPr>
          <a:xfrm>
            <a:off x="3175000" y="2362200"/>
            <a:ext cx="965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1B2733"/>
                </a:solidFill>
              </a:rPr>
              <a:t>£1,405,000</a:t>
            </a:r>
            <a:endParaRPr b="1" sz="1000">
              <a:solidFill>
                <a:srgbClr val="1B2733"/>
              </a:solidFill>
            </a:endParaRPr>
          </a:p>
        </p:txBody>
      </p:sp>
      <p:sp>
        <p:nvSpPr>
          <p:cNvPr id="207" name="Google Shape;207;p16"/>
          <p:cNvSpPr/>
          <p:nvPr/>
        </p:nvSpPr>
        <p:spPr>
          <a:xfrm>
            <a:off x="4140200" y="2336800"/>
            <a:ext cx="7365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16"/>
          <p:cNvSpPr txBox="1"/>
          <p:nvPr/>
        </p:nvSpPr>
        <p:spPr>
          <a:xfrm>
            <a:off x="4140200" y="2362200"/>
            <a:ext cx="7365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1B2733"/>
                </a:solidFill>
              </a:rPr>
              <a:t>£175,000</a:t>
            </a:r>
            <a:endParaRPr b="1" sz="1000">
              <a:solidFill>
                <a:srgbClr val="1B2733"/>
              </a:solidFill>
            </a:endParaRPr>
          </a:p>
        </p:txBody>
      </p:sp>
      <p:sp>
        <p:nvSpPr>
          <p:cNvPr id="209" name="Google Shape;209;p16"/>
          <p:cNvSpPr/>
          <p:nvPr/>
        </p:nvSpPr>
        <p:spPr>
          <a:xfrm>
            <a:off x="4876800" y="2336800"/>
            <a:ext cx="9651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16"/>
          <p:cNvSpPr txBox="1"/>
          <p:nvPr/>
        </p:nvSpPr>
        <p:spPr>
          <a:xfrm>
            <a:off x="4876800" y="2362200"/>
            <a:ext cx="965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1B2733"/>
                </a:solidFill>
              </a:rPr>
              <a:t>£1,230,000</a:t>
            </a:r>
            <a:endParaRPr b="1" sz="1000">
              <a:solidFill>
                <a:srgbClr val="1B2733"/>
              </a:solidFill>
            </a:endParaRPr>
          </a:p>
        </p:txBody>
      </p:sp>
      <p:sp>
        <p:nvSpPr>
          <p:cNvPr id="211" name="Google Shape;211;p16"/>
          <p:cNvSpPr/>
          <p:nvPr/>
        </p:nvSpPr>
        <p:spPr>
          <a:xfrm>
            <a:off x="5842000" y="2336800"/>
            <a:ext cx="6603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2" name="Google Shape;212;p16"/>
          <p:cNvSpPr txBox="1"/>
          <p:nvPr/>
        </p:nvSpPr>
        <p:spPr>
          <a:xfrm>
            <a:off x="5842000" y="2362200"/>
            <a:ext cx="6603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1B2733"/>
                </a:solidFill>
              </a:rPr>
              <a:t>703%</a:t>
            </a:r>
            <a:endParaRPr b="1" sz="1000">
              <a:solidFill>
                <a:srgbClr val="1B2733"/>
              </a:solidFill>
            </a:endParaRPr>
          </a:p>
        </p:txBody>
      </p:sp>
      <p:sp>
        <p:nvSpPr>
          <p:cNvPr id="213" name="Google Shape;213;p16"/>
          <p:cNvSpPr/>
          <p:nvPr/>
        </p:nvSpPr>
        <p:spPr>
          <a:xfrm>
            <a:off x="6502400" y="2336800"/>
            <a:ext cx="7365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16"/>
          <p:cNvSpPr txBox="1"/>
          <p:nvPr/>
        </p:nvSpPr>
        <p:spPr>
          <a:xfrm>
            <a:off x="6502400" y="2362200"/>
            <a:ext cx="7365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1B2733"/>
                </a:solidFill>
              </a:rPr>
              <a:t>1.5 mo</a:t>
            </a:r>
            <a:endParaRPr b="1" sz="1000">
              <a:solidFill>
                <a:srgbClr val="1B2733"/>
              </a:solidFill>
            </a:endParaRPr>
          </a:p>
        </p:txBody>
      </p:sp>
      <p:sp>
        <p:nvSpPr>
          <p:cNvPr id="215" name="Google Shape;215;p16"/>
          <p:cNvSpPr/>
          <p:nvPr/>
        </p:nvSpPr>
        <p:spPr>
          <a:xfrm>
            <a:off x="7239000" y="2336800"/>
            <a:ext cx="14478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16"/>
          <p:cNvSpPr txBox="1"/>
          <p:nvPr/>
        </p:nvSpPr>
        <p:spPr>
          <a:xfrm>
            <a:off x="457200" y="2730500"/>
            <a:ext cx="82296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F6B76"/>
                </a:solidFill>
              </a:rPr>
              <a:t>Deferred, not in the total: #2 OPT-03 Missed-payment reminders (£361,500 benefit, 703% ROI, 1.5 mo payback) and #5 OPT-05 Payment confirmations (£110,500 benefit, 146% ROI, 4.9 mo payback). Both are email or text features outside Phase 1 scope.</a:t>
            </a:r>
            <a:endParaRPr sz="900">
              <a:solidFill>
                <a:srgbClr val="5F6B76"/>
              </a:solidFill>
            </a:endParaRPr>
          </a:p>
        </p:txBody>
      </p:sp>
      <p:sp>
        <p:nvSpPr>
          <p:cNvPr id="217" name="Google Shape;217;p16"/>
          <p:cNvSpPr txBox="1"/>
          <p:nvPr/>
        </p:nvSpPr>
        <p:spPr>
          <a:xfrm>
            <a:off x="457200" y="3162300"/>
            <a:ext cx="82296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1B7F79"/>
                </a:solidFill>
              </a:rPr>
              <a:t>Challenge-ready view (derived from the model)</a:t>
            </a:r>
            <a:endParaRPr b="1" sz="1200">
              <a:solidFill>
                <a:srgbClr val="1B7F79"/>
              </a:solidFill>
            </a:endParaRPr>
          </a:p>
        </p:txBody>
      </p:sp>
      <p:sp>
        <p:nvSpPr>
          <p:cNvPr id="218" name="Google Shape;218;p16"/>
          <p:cNvSpPr/>
          <p:nvPr/>
        </p:nvSpPr>
        <p:spPr>
          <a:xfrm>
            <a:off x="457200" y="3416300"/>
            <a:ext cx="41910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16"/>
          <p:cNvSpPr txBox="1"/>
          <p:nvPr/>
        </p:nvSpPr>
        <p:spPr>
          <a:xfrm>
            <a:off x="457200" y="3441700"/>
            <a:ext cx="41910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Scenario</a:t>
            </a:r>
            <a:endParaRPr b="1" sz="1000">
              <a:solidFill>
                <a:srgbClr val="FFFFFF"/>
              </a:solidFill>
            </a:endParaRPr>
          </a:p>
        </p:txBody>
      </p:sp>
      <p:sp>
        <p:nvSpPr>
          <p:cNvPr id="220" name="Google Shape;220;p16"/>
          <p:cNvSpPr/>
          <p:nvPr/>
        </p:nvSpPr>
        <p:spPr>
          <a:xfrm>
            <a:off x="4648200" y="3416300"/>
            <a:ext cx="12699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1" name="Google Shape;221;p16"/>
          <p:cNvSpPr txBox="1"/>
          <p:nvPr/>
        </p:nvSpPr>
        <p:spPr>
          <a:xfrm>
            <a:off x="4648200" y="3441700"/>
            <a:ext cx="12699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Net benefit</a:t>
            </a:r>
            <a:endParaRPr b="1" sz="1000">
              <a:solidFill>
                <a:srgbClr val="FFFFFF"/>
              </a:solidFill>
            </a:endParaRPr>
          </a:p>
        </p:txBody>
      </p:sp>
      <p:sp>
        <p:nvSpPr>
          <p:cNvPr id="222" name="Google Shape;222;p16"/>
          <p:cNvSpPr/>
          <p:nvPr/>
        </p:nvSpPr>
        <p:spPr>
          <a:xfrm>
            <a:off x="5918200" y="3416300"/>
            <a:ext cx="8637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16"/>
          <p:cNvSpPr txBox="1"/>
          <p:nvPr/>
        </p:nvSpPr>
        <p:spPr>
          <a:xfrm>
            <a:off x="5918200" y="3441700"/>
            <a:ext cx="8637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ROI</a:t>
            </a:r>
            <a:endParaRPr b="1" sz="1000">
              <a:solidFill>
                <a:srgbClr val="FFFFFF"/>
              </a:solidFill>
            </a:endParaRPr>
          </a:p>
        </p:txBody>
      </p:sp>
      <p:sp>
        <p:nvSpPr>
          <p:cNvPr id="224" name="Google Shape;224;p16"/>
          <p:cNvSpPr/>
          <p:nvPr/>
        </p:nvSpPr>
        <p:spPr>
          <a:xfrm>
            <a:off x="6781800" y="3416300"/>
            <a:ext cx="19050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16"/>
          <p:cNvSpPr txBox="1"/>
          <p:nvPr/>
        </p:nvSpPr>
        <p:spPr>
          <a:xfrm>
            <a:off x="6781800" y="3441700"/>
            <a:ext cx="19050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Payback</a:t>
            </a:r>
            <a:endParaRPr b="1" sz="1000">
              <a:solidFill>
                <a:srgbClr val="FFFFFF"/>
              </a:solidFill>
            </a:endParaRPr>
          </a:p>
        </p:txBody>
      </p:sp>
      <p:sp>
        <p:nvSpPr>
          <p:cNvPr id="226" name="Google Shape;226;p16"/>
          <p:cNvSpPr/>
          <p:nvPr/>
        </p:nvSpPr>
        <p:spPr>
          <a:xfrm>
            <a:off x="457200" y="3733800"/>
            <a:ext cx="41910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 name="Google Shape;227;p16"/>
          <p:cNvSpPr txBox="1"/>
          <p:nvPr/>
        </p:nvSpPr>
        <p:spPr>
          <a:xfrm>
            <a:off x="457200" y="3759200"/>
            <a:ext cx="41910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Full model: £405k hard savings + £1.0M recovery uplift</a:t>
            </a:r>
            <a:endParaRPr sz="1000">
              <a:solidFill>
                <a:srgbClr val="1B2733"/>
              </a:solidFill>
            </a:endParaRPr>
          </a:p>
        </p:txBody>
      </p:sp>
      <p:sp>
        <p:nvSpPr>
          <p:cNvPr id="228" name="Google Shape;228;p16"/>
          <p:cNvSpPr/>
          <p:nvPr/>
        </p:nvSpPr>
        <p:spPr>
          <a:xfrm>
            <a:off x="4648200" y="3733800"/>
            <a:ext cx="12699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16"/>
          <p:cNvSpPr txBox="1"/>
          <p:nvPr/>
        </p:nvSpPr>
        <p:spPr>
          <a:xfrm>
            <a:off x="4648200" y="3759200"/>
            <a:ext cx="12699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£1,230,000</a:t>
            </a:r>
            <a:endParaRPr sz="1000">
              <a:solidFill>
                <a:srgbClr val="1B2733"/>
              </a:solidFill>
            </a:endParaRPr>
          </a:p>
        </p:txBody>
      </p:sp>
      <p:sp>
        <p:nvSpPr>
          <p:cNvPr id="230" name="Google Shape;230;p16"/>
          <p:cNvSpPr/>
          <p:nvPr/>
        </p:nvSpPr>
        <p:spPr>
          <a:xfrm>
            <a:off x="5918200" y="3733800"/>
            <a:ext cx="8637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16"/>
          <p:cNvSpPr txBox="1"/>
          <p:nvPr/>
        </p:nvSpPr>
        <p:spPr>
          <a:xfrm>
            <a:off x="5918200" y="3759200"/>
            <a:ext cx="8637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703%</a:t>
            </a:r>
            <a:endParaRPr sz="1000">
              <a:solidFill>
                <a:srgbClr val="1B2733"/>
              </a:solidFill>
            </a:endParaRPr>
          </a:p>
        </p:txBody>
      </p:sp>
      <p:sp>
        <p:nvSpPr>
          <p:cNvPr id="232" name="Google Shape;232;p16"/>
          <p:cNvSpPr/>
          <p:nvPr/>
        </p:nvSpPr>
        <p:spPr>
          <a:xfrm>
            <a:off x="6781800" y="3733800"/>
            <a:ext cx="19050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 name="Google Shape;233;p16"/>
          <p:cNvSpPr txBox="1"/>
          <p:nvPr/>
        </p:nvSpPr>
        <p:spPr>
          <a:xfrm>
            <a:off x="6781800" y="3759200"/>
            <a:ext cx="19050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1.5 months</a:t>
            </a:r>
            <a:endParaRPr sz="1000">
              <a:solidFill>
                <a:srgbClr val="1B2733"/>
              </a:solidFill>
            </a:endParaRPr>
          </a:p>
        </p:txBody>
      </p:sp>
      <p:sp>
        <p:nvSpPr>
          <p:cNvPr id="234" name="Google Shape;234;p16"/>
          <p:cNvSpPr/>
          <p:nvPr/>
        </p:nvSpPr>
        <p:spPr>
          <a:xfrm>
            <a:off x="457200" y="4051300"/>
            <a:ext cx="41910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 name="Google Shape;235;p16"/>
          <p:cNvSpPr txBox="1"/>
          <p:nvPr/>
        </p:nvSpPr>
        <p:spPr>
          <a:xfrm>
            <a:off x="457200" y="4076700"/>
            <a:ext cx="41910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Uplift halved (£500k)</a:t>
            </a:r>
            <a:endParaRPr sz="1000">
              <a:solidFill>
                <a:srgbClr val="1B2733"/>
              </a:solidFill>
            </a:endParaRPr>
          </a:p>
        </p:txBody>
      </p:sp>
      <p:sp>
        <p:nvSpPr>
          <p:cNvPr id="236" name="Google Shape;236;p16"/>
          <p:cNvSpPr/>
          <p:nvPr/>
        </p:nvSpPr>
        <p:spPr>
          <a:xfrm>
            <a:off x="4648200" y="4051300"/>
            <a:ext cx="12699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p16"/>
          <p:cNvSpPr txBox="1"/>
          <p:nvPr/>
        </p:nvSpPr>
        <p:spPr>
          <a:xfrm>
            <a:off x="4648200" y="4076700"/>
            <a:ext cx="12699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£730,000</a:t>
            </a:r>
            <a:endParaRPr sz="1000">
              <a:solidFill>
                <a:srgbClr val="1B2733"/>
              </a:solidFill>
            </a:endParaRPr>
          </a:p>
        </p:txBody>
      </p:sp>
      <p:sp>
        <p:nvSpPr>
          <p:cNvPr id="238" name="Google Shape;238;p16"/>
          <p:cNvSpPr/>
          <p:nvPr/>
        </p:nvSpPr>
        <p:spPr>
          <a:xfrm>
            <a:off x="5918200" y="4051300"/>
            <a:ext cx="8637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16"/>
          <p:cNvSpPr txBox="1"/>
          <p:nvPr/>
        </p:nvSpPr>
        <p:spPr>
          <a:xfrm>
            <a:off x="5918200" y="4076700"/>
            <a:ext cx="8637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417%</a:t>
            </a:r>
            <a:endParaRPr sz="1000">
              <a:solidFill>
                <a:srgbClr val="1B2733"/>
              </a:solidFill>
            </a:endParaRPr>
          </a:p>
        </p:txBody>
      </p:sp>
      <p:sp>
        <p:nvSpPr>
          <p:cNvPr id="240" name="Google Shape;240;p16"/>
          <p:cNvSpPr/>
          <p:nvPr/>
        </p:nvSpPr>
        <p:spPr>
          <a:xfrm>
            <a:off x="6781800" y="4051300"/>
            <a:ext cx="1905000" cy="3174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16"/>
          <p:cNvSpPr txBox="1"/>
          <p:nvPr/>
        </p:nvSpPr>
        <p:spPr>
          <a:xfrm>
            <a:off x="6781800" y="4076700"/>
            <a:ext cx="19050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2.3 months</a:t>
            </a:r>
            <a:endParaRPr sz="1000">
              <a:solidFill>
                <a:srgbClr val="1B2733"/>
              </a:solidFill>
            </a:endParaRPr>
          </a:p>
        </p:txBody>
      </p:sp>
      <p:sp>
        <p:nvSpPr>
          <p:cNvPr id="242" name="Google Shape;242;p16"/>
          <p:cNvSpPr/>
          <p:nvPr/>
        </p:nvSpPr>
        <p:spPr>
          <a:xfrm>
            <a:off x="457200" y="4368800"/>
            <a:ext cx="41910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16"/>
          <p:cNvSpPr txBox="1"/>
          <p:nvPr/>
        </p:nvSpPr>
        <p:spPr>
          <a:xfrm>
            <a:off x="457200" y="4394200"/>
            <a:ext cx="41910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Hard savings only (£185k + £110k + £110k)</a:t>
            </a:r>
            <a:endParaRPr sz="1000">
              <a:solidFill>
                <a:srgbClr val="1B2733"/>
              </a:solidFill>
            </a:endParaRPr>
          </a:p>
        </p:txBody>
      </p:sp>
      <p:sp>
        <p:nvSpPr>
          <p:cNvPr id="244" name="Google Shape;244;p16"/>
          <p:cNvSpPr/>
          <p:nvPr/>
        </p:nvSpPr>
        <p:spPr>
          <a:xfrm>
            <a:off x="4648200" y="4368800"/>
            <a:ext cx="12699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16"/>
          <p:cNvSpPr txBox="1"/>
          <p:nvPr/>
        </p:nvSpPr>
        <p:spPr>
          <a:xfrm>
            <a:off x="4648200" y="4394200"/>
            <a:ext cx="12699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£230,000</a:t>
            </a:r>
            <a:endParaRPr sz="1000">
              <a:solidFill>
                <a:srgbClr val="1B2733"/>
              </a:solidFill>
            </a:endParaRPr>
          </a:p>
        </p:txBody>
      </p:sp>
      <p:sp>
        <p:nvSpPr>
          <p:cNvPr id="246" name="Google Shape;246;p16"/>
          <p:cNvSpPr/>
          <p:nvPr/>
        </p:nvSpPr>
        <p:spPr>
          <a:xfrm>
            <a:off x="5918200" y="4368800"/>
            <a:ext cx="8637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16"/>
          <p:cNvSpPr txBox="1"/>
          <p:nvPr/>
        </p:nvSpPr>
        <p:spPr>
          <a:xfrm>
            <a:off x="5918200" y="4394200"/>
            <a:ext cx="8637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131%</a:t>
            </a:r>
            <a:endParaRPr sz="1000">
              <a:solidFill>
                <a:srgbClr val="1B2733"/>
              </a:solidFill>
            </a:endParaRPr>
          </a:p>
        </p:txBody>
      </p:sp>
      <p:sp>
        <p:nvSpPr>
          <p:cNvPr id="248" name="Google Shape;248;p16"/>
          <p:cNvSpPr/>
          <p:nvPr/>
        </p:nvSpPr>
        <p:spPr>
          <a:xfrm>
            <a:off x="6781800" y="4368800"/>
            <a:ext cx="1905000" cy="317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 name="Google Shape;249;p16"/>
          <p:cNvSpPr txBox="1"/>
          <p:nvPr/>
        </p:nvSpPr>
        <p:spPr>
          <a:xfrm>
            <a:off x="6781800" y="4394200"/>
            <a:ext cx="19050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5.2 months</a:t>
            </a:r>
            <a:endParaRPr sz="1000">
              <a:solidFill>
                <a:srgbClr val="1B273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7"/>
          <p:cNvSpPr/>
          <p:nvPr/>
        </p:nvSpPr>
        <p:spPr>
          <a:xfrm>
            <a:off x="0" y="0"/>
            <a:ext cx="9144000" cy="1017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17"/>
          <p:cNvSpPr txBox="1"/>
          <p:nvPr/>
        </p:nvSpPr>
        <p:spPr>
          <a:xfrm>
            <a:off x="457200" y="228600"/>
            <a:ext cx="8229600" cy="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0B2A4A"/>
                </a:solidFill>
              </a:rPr>
              <a:t>Phase 1 is deliberately small: self-service for simple cases, people for the rest</a:t>
            </a:r>
            <a:endParaRPr b="1" sz="2200">
              <a:solidFill>
                <a:srgbClr val="0B2A4A"/>
              </a:solidFill>
            </a:endParaRPr>
          </a:p>
        </p:txBody>
      </p:sp>
      <p:sp>
        <p:nvSpPr>
          <p:cNvPr id="256" name="Google Shape;256;p17"/>
          <p:cNvSpPr txBox="1"/>
          <p:nvPr/>
        </p:nvSpPr>
        <p:spPr>
          <a:xfrm>
            <a:off x="457200" y="4813300"/>
            <a:ext cx="77217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F6B76"/>
                </a:solidFill>
              </a:rPr>
              <a:t>Source: Phase 1 scope document; ROI summary (deferrals); Jira backlog (KAN-11 to KAN-30).</a:t>
            </a:r>
            <a:endParaRPr sz="800">
              <a:solidFill>
                <a:srgbClr val="5F6B76"/>
              </a:solidFill>
            </a:endParaRPr>
          </a:p>
        </p:txBody>
      </p:sp>
      <p:sp>
        <p:nvSpPr>
          <p:cNvPr id="257" name="Google Shape;257;p17"/>
          <p:cNvSpPr txBox="1"/>
          <p:nvPr/>
        </p:nvSpPr>
        <p:spPr>
          <a:xfrm>
            <a:off x="8382000" y="4813300"/>
            <a:ext cx="304800" cy="203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5F6B76"/>
                </a:solidFill>
              </a:rPr>
              <a:t>5</a:t>
            </a:r>
            <a:endParaRPr sz="900">
              <a:solidFill>
                <a:srgbClr val="5F6B76"/>
              </a:solidFill>
            </a:endParaRPr>
          </a:p>
        </p:txBody>
      </p:sp>
      <p:sp>
        <p:nvSpPr>
          <p:cNvPr id="258" name="Google Shape;258;p17"/>
          <p:cNvSpPr/>
          <p:nvPr/>
        </p:nvSpPr>
        <p:spPr>
          <a:xfrm>
            <a:off x="457200" y="1066800"/>
            <a:ext cx="4013100" cy="30099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 name="Google Shape;259;p17"/>
          <p:cNvSpPr/>
          <p:nvPr/>
        </p:nvSpPr>
        <p:spPr>
          <a:xfrm>
            <a:off x="457200" y="1066800"/>
            <a:ext cx="50700" cy="3009900"/>
          </a:xfrm>
          <a:prstGeom prst="rect">
            <a:avLst/>
          </a:prstGeom>
          <a:solidFill>
            <a:srgbClr val="1B7F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p17"/>
          <p:cNvSpPr txBox="1"/>
          <p:nvPr/>
        </p:nvSpPr>
        <p:spPr>
          <a:xfrm>
            <a:off x="609600" y="1168400"/>
            <a:ext cx="37593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1B7F79"/>
                </a:solidFill>
              </a:rPr>
              <a:t>In scope</a:t>
            </a:r>
            <a:endParaRPr b="1" sz="1200">
              <a:solidFill>
                <a:srgbClr val="1B7F79"/>
              </a:solidFill>
            </a:endParaRPr>
          </a:p>
        </p:txBody>
      </p:sp>
      <p:sp>
        <p:nvSpPr>
          <p:cNvPr id="261" name="Google Shape;261;p17"/>
          <p:cNvSpPr txBox="1"/>
          <p:nvPr/>
        </p:nvSpPr>
        <p:spPr>
          <a:xfrm>
            <a:off x="609600" y="1473200"/>
            <a:ext cx="3759300" cy="25527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rgbClr val="1B2733"/>
              </a:buClr>
              <a:buSzPts val="1100"/>
              <a:buChar char="●"/>
            </a:pPr>
            <a:r>
              <a:rPr lang="en" sz="1100">
                <a:solidFill>
                  <a:srgbClr val="1B2733"/>
                </a:solidFill>
              </a:rPr>
              <a:t>Customer identity verification with a 3-attempt lockout</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Rules-based account triage for portal eligibility</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Live balance and options dashboard</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Pay in full by card, with an on-screen receipt</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3, 6 or 12-month repayment plans (first instalment by card)</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Digital promise to pay with automatic follow-up check</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Hardship and dispute requests routed to specialists</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Status sync to the legacy database and an audit trail</a:t>
            </a:r>
            <a:endParaRPr sz="1100">
              <a:solidFill>
                <a:srgbClr val="1B2733"/>
              </a:solidFill>
            </a:endParaRPr>
          </a:p>
        </p:txBody>
      </p:sp>
      <p:sp>
        <p:nvSpPr>
          <p:cNvPr id="262" name="Google Shape;262;p17"/>
          <p:cNvSpPr/>
          <p:nvPr/>
        </p:nvSpPr>
        <p:spPr>
          <a:xfrm>
            <a:off x="4673600" y="1066800"/>
            <a:ext cx="4013100" cy="30099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17"/>
          <p:cNvSpPr/>
          <p:nvPr/>
        </p:nvSpPr>
        <p:spPr>
          <a:xfrm>
            <a:off x="4673600" y="1066800"/>
            <a:ext cx="50700" cy="30099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17"/>
          <p:cNvSpPr txBox="1"/>
          <p:nvPr/>
        </p:nvSpPr>
        <p:spPr>
          <a:xfrm>
            <a:off x="4826000" y="1168400"/>
            <a:ext cx="37593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14558F"/>
                </a:solidFill>
              </a:rPr>
              <a:t>Out of scope</a:t>
            </a:r>
            <a:endParaRPr b="1" sz="1200">
              <a:solidFill>
                <a:srgbClr val="14558F"/>
              </a:solidFill>
            </a:endParaRPr>
          </a:p>
        </p:txBody>
      </p:sp>
      <p:sp>
        <p:nvSpPr>
          <p:cNvPr id="265" name="Google Shape;265;p17"/>
          <p:cNvSpPr txBox="1"/>
          <p:nvPr/>
        </p:nvSpPr>
        <p:spPr>
          <a:xfrm>
            <a:off x="4826000" y="1473200"/>
            <a:ext cx="3759300" cy="25527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rgbClr val="1B2733"/>
              </a:buClr>
              <a:buSzPts val="1100"/>
              <a:buChar char="●"/>
            </a:pPr>
            <a:r>
              <a:rPr lang="en" sz="1100">
                <a:solidFill>
                  <a:srgbClr val="1B2733"/>
                </a:solidFill>
              </a:rPr>
              <a:t>Confirmation and reminder emails or texts (OPT-05, OPT-03 deferred)</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Direct Debit mandate (Should-have, can follow)</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Hardship assessment and bespoke repayment negotiation</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Legal escalation workflow</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Core platform replacement</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Management reporting dashboards</a:t>
            </a:r>
            <a:endParaRPr sz="1100">
              <a:solidFill>
                <a:srgbClr val="1B2733"/>
              </a:solidFill>
            </a:endParaRPr>
          </a:p>
        </p:txBody>
      </p:sp>
      <p:sp>
        <p:nvSpPr>
          <p:cNvPr id="266" name="Google Shape;266;p17"/>
          <p:cNvSpPr/>
          <p:nvPr/>
        </p:nvSpPr>
        <p:spPr>
          <a:xfrm>
            <a:off x="457200" y="4178300"/>
            <a:ext cx="8229600" cy="4065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 name="Google Shape;267;p17"/>
          <p:cNvSpPr txBox="1"/>
          <p:nvPr/>
        </p:nvSpPr>
        <p:spPr>
          <a:xfrm>
            <a:off x="584200" y="4241800"/>
            <a:ext cx="79755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FFFFFF"/>
                </a:solidFill>
              </a:rPr>
              <a:t>Right-sized: 3 of 5 ranked opportunities, and the riskiest cases stay with people.</a:t>
            </a:r>
            <a:endParaRPr b="1" sz="1100">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8"/>
          <p:cNvSpPr/>
          <p:nvPr/>
        </p:nvSpPr>
        <p:spPr>
          <a:xfrm>
            <a:off x="0" y="0"/>
            <a:ext cx="9144000" cy="1017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3" name="Google Shape;273;p18"/>
          <p:cNvSpPr txBox="1"/>
          <p:nvPr/>
        </p:nvSpPr>
        <p:spPr>
          <a:xfrm>
            <a:off x="457200" y="228600"/>
            <a:ext cx="8229600" cy="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0B2A4A"/>
                </a:solidFill>
              </a:rPr>
              <a:t>The To-Be journey resolves simple cases online and hands complex cases to people with context</a:t>
            </a:r>
            <a:endParaRPr b="1" sz="2200">
              <a:solidFill>
                <a:srgbClr val="0B2A4A"/>
              </a:solidFill>
            </a:endParaRPr>
          </a:p>
        </p:txBody>
      </p:sp>
      <p:sp>
        <p:nvSpPr>
          <p:cNvPr id="274" name="Google Shape;274;p18"/>
          <p:cNvSpPr txBox="1"/>
          <p:nvPr/>
        </p:nvSpPr>
        <p:spPr>
          <a:xfrm>
            <a:off x="457200" y="4813300"/>
            <a:ext cx="77217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F6B76"/>
                </a:solidFill>
              </a:rPr>
              <a:t>Source: to-be_workflow.bpmn; Jira backlog (KAN-11, KAN-14, KAN-16, KAN-22, KAN-26, KAN-29).</a:t>
            </a:r>
            <a:endParaRPr sz="800">
              <a:solidFill>
                <a:srgbClr val="5F6B76"/>
              </a:solidFill>
            </a:endParaRPr>
          </a:p>
        </p:txBody>
      </p:sp>
      <p:sp>
        <p:nvSpPr>
          <p:cNvPr id="275" name="Google Shape;275;p18"/>
          <p:cNvSpPr txBox="1"/>
          <p:nvPr/>
        </p:nvSpPr>
        <p:spPr>
          <a:xfrm>
            <a:off x="8382000" y="4813300"/>
            <a:ext cx="304800" cy="203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5F6B76"/>
                </a:solidFill>
              </a:rPr>
              <a:t>6</a:t>
            </a:r>
            <a:endParaRPr sz="900">
              <a:solidFill>
                <a:srgbClr val="5F6B76"/>
              </a:solidFill>
            </a:endParaRPr>
          </a:p>
        </p:txBody>
      </p:sp>
      <p:sp>
        <p:nvSpPr>
          <p:cNvPr id="276" name="Google Shape;276;p18"/>
          <p:cNvSpPr/>
          <p:nvPr/>
        </p:nvSpPr>
        <p:spPr>
          <a:xfrm>
            <a:off x="457200" y="1066800"/>
            <a:ext cx="1544400" cy="11685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7" name="Google Shape;277;p18"/>
          <p:cNvSpPr txBox="1"/>
          <p:nvPr/>
        </p:nvSpPr>
        <p:spPr>
          <a:xfrm>
            <a:off x="533400" y="1143000"/>
            <a:ext cx="13920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FFFFFF"/>
                </a:solidFill>
              </a:rPr>
              <a:t>1 Triage</a:t>
            </a:r>
            <a:endParaRPr b="1" sz="1200">
              <a:solidFill>
                <a:srgbClr val="FFFFFF"/>
              </a:solidFill>
            </a:endParaRPr>
          </a:p>
        </p:txBody>
      </p:sp>
      <p:sp>
        <p:nvSpPr>
          <p:cNvPr id="278" name="Google Shape;278;p18"/>
          <p:cNvSpPr txBox="1"/>
          <p:nvPr/>
        </p:nvSpPr>
        <p:spPr>
          <a:xfrm>
            <a:off x="533400" y="1422400"/>
            <a:ext cx="1392000" cy="7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FFFFFF"/>
                </a:solidFill>
              </a:rPr>
              <a:t>Account enters delinquency; rules check eligibility</a:t>
            </a:r>
            <a:endParaRPr sz="900">
              <a:solidFill>
                <a:srgbClr val="FFFFFF"/>
              </a:solidFill>
            </a:endParaRPr>
          </a:p>
        </p:txBody>
      </p:sp>
      <p:sp>
        <p:nvSpPr>
          <p:cNvPr id="279" name="Google Shape;279;p18"/>
          <p:cNvSpPr/>
          <p:nvPr/>
        </p:nvSpPr>
        <p:spPr>
          <a:xfrm>
            <a:off x="2128520" y="1066800"/>
            <a:ext cx="1544400" cy="11685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18"/>
          <p:cNvSpPr txBox="1"/>
          <p:nvPr/>
        </p:nvSpPr>
        <p:spPr>
          <a:xfrm>
            <a:off x="2204720" y="1143000"/>
            <a:ext cx="13920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FFFFFF"/>
                </a:solidFill>
              </a:rPr>
              <a:t>2 Verify</a:t>
            </a:r>
            <a:endParaRPr b="1" sz="1200">
              <a:solidFill>
                <a:srgbClr val="FFFFFF"/>
              </a:solidFill>
            </a:endParaRPr>
          </a:p>
        </p:txBody>
      </p:sp>
      <p:sp>
        <p:nvSpPr>
          <p:cNvPr id="281" name="Google Shape;281;p18"/>
          <p:cNvSpPr txBox="1"/>
          <p:nvPr/>
        </p:nvSpPr>
        <p:spPr>
          <a:xfrm>
            <a:off x="2204720" y="1422400"/>
            <a:ext cx="1392000" cy="7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FFFFFF"/>
                </a:solidFill>
              </a:rPr>
              <a:t>Customer confirms date of birth, post code and card digits</a:t>
            </a:r>
            <a:endParaRPr sz="900">
              <a:solidFill>
                <a:srgbClr val="FFFFFF"/>
              </a:solidFill>
            </a:endParaRPr>
          </a:p>
        </p:txBody>
      </p:sp>
      <p:sp>
        <p:nvSpPr>
          <p:cNvPr id="282" name="Google Shape;282;p18"/>
          <p:cNvSpPr/>
          <p:nvPr/>
        </p:nvSpPr>
        <p:spPr>
          <a:xfrm>
            <a:off x="3799840" y="1066800"/>
            <a:ext cx="1544400" cy="11685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3" name="Google Shape;283;p18"/>
          <p:cNvSpPr txBox="1"/>
          <p:nvPr/>
        </p:nvSpPr>
        <p:spPr>
          <a:xfrm>
            <a:off x="3876040" y="1143000"/>
            <a:ext cx="13920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FFFFFF"/>
                </a:solidFill>
              </a:rPr>
              <a:t>3 Safeguard</a:t>
            </a:r>
            <a:endParaRPr b="1" sz="1200">
              <a:solidFill>
                <a:srgbClr val="FFFFFF"/>
              </a:solidFill>
            </a:endParaRPr>
          </a:p>
        </p:txBody>
      </p:sp>
      <p:sp>
        <p:nvSpPr>
          <p:cNvPr id="284" name="Google Shape;284;p18"/>
          <p:cNvSpPr txBox="1"/>
          <p:nvPr/>
        </p:nvSpPr>
        <p:spPr>
          <a:xfrm>
            <a:off x="3876040" y="1422400"/>
            <a:ext cx="1392000" cy="7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FFFFFF"/>
                </a:solidFill>
              </a:rPr>
              <a:t>Hardship and vulnerability check before any account data</a:t>
            </a:r>
            <a:endParaRPr sz="900">
              <a:solidFill>
                <a:srgbClr val="FFFFFF"/>
              </a:solidFill>
            </a:endParaRPr>
          </a:p>
        </p:txBody>
      </p:sp>
      <p:sp>
        <p:nvSpPr>
          <p:cNvPr id="285" name="Google Shape;285;p18"/>
          <p:cNvSpPr/>
          <p:nvPr/>
        </p:nvSpPr>
        <p:spPr>
          <a:xfrm>
            <a:off x="5471160" y="1066800"/>
            <a:ext cx="1544400" cy="11685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6" name="Google Shape;286;p18"/>
          <p:cNvSpPr txBox="1"/>
          <p:nvPr/>
        </p:nvSpPr>
        <p:spPr>
          <a:xfrm>
            <a:off x="5547360" y="1143000"/>
            <a:ext cx="13920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FFFFFF"/>
                </a:solidFill>
              </a:rPr>
              <a:t>4 Choose</a:t>
            </a:r>
            <a:endParaRPr b="1" sz="1200">
              <a:solidFill>
                <a:srgbClr val="FFFFFF"/>
              </a:solidFill>
            </a:endParaRPr>
          </a:p>
        </p:txBody>
      </p:sp>
      <p:sp>
        <p:nvSpPr>
          <p:cNvPr id="287" name="Google Shape;287;p18"/>
          <p:cNvSpPr txBox="1"/>
          <p:nvPr/>
        </p:nvSpPr>
        <p:spPr>
          <a:xfrm>
            <a:off x="5547360" y="1422400"/>
            <a:ext cx="1392000" cy="7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FFFFFF"/>
                </a:solidFill>
              </a:rPr>
              <a:t>Pay in full, plan, promise to pay, or ask for help</a:t>
            </a:r>
            <a:endParaRPr sz="900">
              <a:solidFill>
                <a:srgbClr val="FFFFFF"/>
              </a:solidFill>
            </a:endParaRPr>
          </a:p>
        </p:txBody>
      </p:sp>
      <p:sp>
        <p:nvSpPr>
          <p:cNvPr id="288" name="Google Shape;288;p18"/>
          <p:cNvSpPr/>
          <p:nvPr/>
        </p:nvSpPr>
        <p:spPr>
          <a:xfrm>
            <a:off x="7142480" y="1066800"/>
            <a:ext cx="1544400" cy="11685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9" name="Google Shape;289;p18"/>
          <p:cNvSpPr txBox="1"/>
          <p:nvPr/>
        </p:nvSpPr>
        <p:spPr>
          <a:xfrm>
            <a:off x="7218680" y="1143000"/>
            <a:ext cx="13920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FFFFFF"/>
                </a:solidFill>
              </a:rPr>
              <a:t>5 Record</a:t>
            </a:r>
            <a:endParaRPr b="1" sz="1200">
              <a:solidFill>
                <a:srgbClr val="FFFFFF"/>
              </a:solidFill>
            </a:endParaRPr>
          </a:p>
        </p:txBody>
      </p:sp>
      <p:sp>
        <p:nvSpPr>
          <p:cNvPr id="290" name="Google Shape;290;p18"/>
          <p:cNvSpPr txBox="1"/>
          <p:nvPr/>
        </p:nvSpPr>
        <p:spPr>
          <a:xfrm>
            <a:off x="7218680" y="1422400"/>
            <a:ext cx="1392000" cy="7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FFFFFF"/>
                </a:solidFill>
              </a:rPr>
              <a:t>Status written to the legacy database; receipt shown</a:t>
            </a:r>
            <a:endParaRPr sz="900">
              <a:solidFill>
                <a:srgbClr val="FFFFFF"/>
              </a:solidFill>
            </a:endParaRPr>
          </a:p>
        </p:txBody>
      </p:sp>
      <p:sp>
        <p:nvSpPr>
          <p:cNvPr id="291" name="Google Shape;291;p18"/>
          <p:cNvSpPr/>
          <p:nvPr/>
        </p:nvSpPr>
        <p:spPr>
          <a:xfrm>
            <a:off x="457200" y="2413000"/>
            <a:ext cx="2641500" cy="14223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p18"/>
          <p:cNvSpPr/>
          <p:nvPr/>
        </p:nvSpPr>
        <p:spPr>
          <a:xfrm>
            <a:off x="457200" y="2413000"/>
            <a:ext cx="50700" cy="1422300"/>
          </a:xfrm>
          <a:prstGeom prst="rect">
            <a:avLst/>
          </a:prstGeom>
          <a:solidFill>
            <a:srgbClr val="1B7F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3" name="Google Shape;293;p18"/>
          <p:cNvSpPr txBox="1"/>
          <p:nvPr/>
        </p:nvSpPr>
        <p:spPr>
          <a:xfrm>
            <a:off x="609600" y="2514600"/>
            <a:ext cx="25617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1B7F79"/>
                </a:solidFill>
              </a:rPr>
              <a:t>Not eligible, flagged or disputed</a:t>
            </a:r>
            <a:endParaRPr b="1" sz="1200">
              <a:solidFill>
                <a:srgbClr val="1B7F79"/>
              </a:solidFill>
            </a:endParaRPr>
          </a:p>
        </p:txBody>
      </p:sp>
      <p:sp>
        <p:nvSpPr>
          <p:cNvPr id="294" name="Google Shape;294;p18"/>
          <p:cNvSpPr txBox="1"/>
          <p:nvPr/>
        </p:nvSpPr>
        <p:spPr>
          <a:xfrm>
            <a:off x="609600" y="2819400"/>
            <a:ext cx="2387700" cy="9651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rgbClr val="1B2733"/>
              </a:buClr>
              <a:buSzPts val="1100"/>
              <a:buChar char="●"/>
            </a:pPr>
            <a:r>
              <a:rPr lang="en" sz="1100">
                <a:solidFill>
                  <a:srgbClr val="1B2733"/>
                </a:solidFill>
              </a:rPr>
              <a:t>Goes to the representative queue with the reason recorded</a:t>
            </a:r>
            <a:endParaRPr sz="1100">
              <a:solidFill>
                <a:srgbClr val="1B2733"/>
              </a:solidFill>
            </a:endParaRPr>
          </a:p>
        </p:txBody>
      </p:sp>
      <p:sp>
        <p:nvSpPr>
          <p:cNvPr id="295" name="Google Shape;295;p18"/>
          <p:cNvSpPr/>
          <p:nvPr/>
        </p:nvSpPr>
        <p:spPr>
          <a:xfrm>
            <a:off x="3251200" y="2413000"/>
            <a:ext cx="2641500" cy="14223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18"/>
          <p:cNvSpPr/>
          <p:nvPr/>
        </p:nvSpPr>
        <p:spPr>
          <a:xfrm>
            <a:off x="3251200" y="2413000"/>
            <a:ext cx="50700" cy="1422300"/>
          </a:xfrm>
          <a:prstGeom prst="rect">
            <a:avLst/>
          </a:prstGeom>
          <a:solidFill>
            <a:srgbClr val="1B7F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7" name="Google Shape;297;p18"/>
          <p:cNvSpPr txBox="1"/>
          <p:nvPr/>
        </p:nvSpPr>
        <p:spPr>
          <a:xfrm>
            <a:off x="3403600" y="2514600"/>
            <a:ext cx="23877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1B7F79"/>
                </a:solidFill>
              </a:rPr>
              <a:t>Failed verification</a:t>
            </a:r>
            <a:endParaRPr b="1" sz="1200">
              <a:solidFill>
                <a:srgbClr val="1B7F79"/>
              </a:solidFill>
            </a:endParaRPr>
          </a:p>
        </p:txBody>
      </p:sp>
      <p:sp>
        <p:nvSpPr>
          <p:cNvPr id="298" name="Google Shape;298;p18"/>
          <p:cNvSpPr txBox="1"/>
          <p:nvPr/>
        </p:nvSpPr>
        <p:spPr>
          <a:xfrm>
            <a:off x="3403600" y="2819400"/>
            <a:ext cx="2387700" cy="9651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rgbClr val="1B2733"/>
              </a:buClr>
              <a:buSzPts val="1100"/>
              <a:buChar char="●"/>
            </a:pPr>
            <a:r>
              <a:rPr lang="en" sz="1100">
                <a:solidFill>
                  <a:srgbClr val="1B2733"/>
                </a:solidFill>
              </a:rPr>
              <a:t>3 attempts, then a 60-minute lock, support number and manual ID check</a:t>
            </a:r>
            <a:endParaRPr sz="1100">
              <a:solidFill>
                <a:srgbClr val="1B2733"/>
              </a:solidFill>
            </a:endParaRPr>
          </a:p>
        </p:txBody>
      </p:sp>
      <p:sp>
        <p:nvSpPr>
          <p:cNvPr id="299" name="Google Shape;299;p18"/>
          <p:cNvSpPr/>
          <p:nvPr/>
        </p:nvSpPr>
        <p:spPr>
          <a:xfrm>
            <a:off x="6045200" y="2413000"/>
            <a:ext cx="2641500" cy="14223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18"/>
          <p:cNvSpPr/>
          <p:nvPr/>
        </p:nvSpPr>
        <p:spPr>
          <a:xfrm>
            <a:off x="6045200" y="2413000"/>
            <a:ext cx="50700" cy="1422300"/>
          </a:xfrm>
          <a:prstGeom prst="rect">
            <a:avLst/>
          </a:prstGeom>
          <a:solidFill>
            <a:srgbClr val="1B7F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18"/>
          <p:cNvSpPr txBox="1"/>
          <p:nvPr/>
        </p:nvSpPr>
        <p:spPr>
          <a:xfrm>
            <a:off x="6197600" y="2514600"/>
            <a:ext cx="23877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1B7F79"/>
                </a:solidFill>
              </a:rPr>
              <a:t>Unpaid promise</a:t>
            </a:r>
            <a:endParaRPr b="1" sz="1200">
              <a:solidFill>
                <a:srgbClr val="1B7F79"/>
              </a:solidFill>
            </a:endParaRPr>
          </a:p>
        </p:txBody>
      </p:sp>
      <p:sp>
        <p:nvSpPr>
          <p:cNvPr id="302" name="Google Shape;302;p18"/>
          <p:cNvSpPr txBox="1"/>
          <p:nvPr/>
        </p:nvSpPr>
        <p:spPr>
          <a:xfrm>
            <a:off x="6197600" y="2819400"/>
            <a:ext cx="2387700" cy="9651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rgbClr val="1B2733"/>
              </a:buClr>
              <a:buSzPts val="1100"/>
              <a:buChar char="●"/>
            </a:pPr>
            <a:r>
              <a:rPr lang="en" sz="1100">
                <a:solidFill>
                  <a:srgbClr val="1B2733"/>
                </a:solidFill>
              </a:rPr>
              <a:t>Checked automatically on the due date; flagged for follow-up and manager escalation</a:t>
            </a:r>
            <a:endParaRPr sz="1100">
              <a:solidFill>
                <a:srgbClr val="1B2733"/>
              </a:solidFill>
            </a:endParaRPr>
          </a:p>
        </p:txBody>
      </p:sp>
      <p:sp>
        <p:nvSpPr>
          <p:cNvPr id="303" name="Google Shape;303;p18"/>
          <p:cNvSpPr/>
          <p:nvPr/>
        </p:nvSpPr>
        <p:spPr>
          <a:xfrm>
            <a:off x="457200" y="4178300"/>
            <a:ext cx="8229600" cy="4065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4" name="Google Shape;304;p18"/>
          <p:cNvSpPr txBox="1"/>
          <p:nvPr/>
        </p:nvSpPr>
        <p:spPr>
          <a:xfrm>
            <a:off x="584200" y="4171900"/>
            <a:ext cx="79755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FFFFFF"/>
                </a:solidFill>
              </a:rPr>
              <a:t>Every step is written to an append-only audit log for compliance reporting.</a:t>
            </a:r>
            <a:endParaRPr b="1" sz="1100">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9"/>
          <p:cNvSpPr/>
          <p:nvPr/>
        </p:nvSpPr>
        <p:spPr>
          <a:xfrm>
            <a:off x="0" y="0"/>
            <a:ext cx="9144000" cy="1017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0" name="Google Shape;310;p19"/>
          <p:cNvSpPr txBox="1"/>
          <p:nvPr/>
        </p:nvSpPr>
        <p:spPr>
          <a:xfrm>
            <a:off x="457200" y="228600"/>
            <a:ext cx="8229600" cy="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0B2A4A"/>
                </a:solidFill>
              </a:rPr>
              <a:t>The backlog and a working prototype are ready; four dependencies need owners</a:t>
            </a:r>
            <a:endParaRPr b="1" sz="2200">
              <a:solidFill>
                <a:srgbClr val="0B2A4A"/>
              </a:solidFill>
            </a:endParaRPr>
          </a:p>
        </p:txBody>
      </p:sp>
      <p:sp>
        <p:nvSpPr>
          <p:cNvPr id="311" name="Google Shape;311;p19"/>
          <p:cNvSpPr txBox="1"/>
          <p:nvPr/>
        </p:nvSpPr>
        <p:spPr>
          <a:xfrm>
            <a:off x="457200" y="4813300"/>
            <a:ext cx="77217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F6B76"/>
                </a:solidFill>
              </a:rPr>
              <a:t>Source: Jira backlog export; Phase 1 scope document (dependencies); smart-recovery-portal prototype and README.</a:t>
            </a:r>
            <a:endParaRPr sz="800">
              <a:solidFill>
                <a:srgbClr val="5F6B76"/>
              </a:solidFill>
            </a:endParaRPr>
          </a:p>
        </p:txBody>
      </p:sp>
      <p:sp>
        <p:nvSpPr>
          <p:cNvPr id="312" name="Google Shape;312;p19"/>
          <p:cNvSpPr txBox="1"/>
          <p:nvPr/>
        </p:nvSpPr>
        <p:spPr>
          <a:xfrm>
            <a:off x="8382000" y="4813300"/>
            <a:ext cx="304800" cy="203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5F6B76"/>
                </a:solidFill>
              </a:rPr>
              <a:t>7</a:t>
            </a:r>
            <a:endParaRPr sz="900">
              <a:solidFill>
                <a:srgbClr val="5F6B76"/>
              </a:solidFill>
            </a:endParaRPr>
          </a:p>
        </p:txBody>
      </p:sp>
      <p:sp>
        <p:nvSpPr>
          <p:cNvPr id="313" name="Google Shape;313;p19"/>
          <p:cNvSpPr/>
          <p:nvPr/>
        </p:nvSpPr>
        <p:spPr>
          <a:xfrm>
            <a:off x="457200" y="1066800"/>
            <a:ext cx="4013100" cy="30099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4" name="Google Shape;314;p19"/>
          <p:cNvSpPr/>
          <p:nvPr/>
        </p:nvSpPr>
        <p:spPr>
          <a:xfrm>
            <a:off x="457200" y="1066800"/>
            <a:ext cx="50700" cy="3009900"/>
          </a:xfrm>
          <a:prstGeom prst="rect">
            <a:avLst/>
          </a:prstGeom>
          <a:solidFill>
            <a:srgbClr val="1B7F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5" name="Google Shape;315;p19"/>
          <p:cNvSpPr txBox="1"/>
          <p:nvPr/>
        </p:nvSpPr>
        <p:spPr>
          <a:xfrm>
            <a:off x="609600" y="1168400"/>
            <a:ext cx="37593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1B7F79"/>
                </a:solidFill>
              </a:rPr>
              <a:t>Backlog (Jira)</a:t>
            </a:r>
            <a:endParaRPr b="1" sz="1200">
              <a:solidFill>
                <a:srgbClr val="1B7F79"/>
              </a:solidFill>
            </a:endParaRPr>
          </a:p>
        </p:txBody>
      </p:sp>
      <p:sp>
        <p:nvSpPr>
          <p:cNvPr id="316" name="Google Shape;316;p19"/>
          <p:cNvSpPr txBox="1"/>
          <p:nvPr/>
        </p:nvSpPr>
        <p:spPr>
          <a:xfrm>
            <a:off x="609600" y="1473200"/>
            <a:ext cx="3759300" cy="25527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rgbClr val="1B2733"/>
              </a:buClr>
              <a:buSzPts val="1100"/>
              <a:buChar char="●"/>
            </a:pPr>
            <a:r>
              <a:rPr lang="en" sz="1100">
                <a:solidFill>
                  <a:srgbClr val="1B2733"/>
                </a:solidFill>
              </a:rPr>
              <a:t>5 epics and 19 user stories, each with acceptance criteria, dependencies, priority and estimate</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16 Must-have and 3 Should-have stories</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89 story points in total, 73 of them Must-have</a:t>
            </a:r>
            <a:endParaRPr sz="1100">
              <a:solidFill>
                <a:srgbClr val="1B2733"/>
              </a:solidFill>
            </a:endParaRPr>
          </a:p>
          <a:p>
            <a:pPr indent="-298450" lvl="0" marL="457200" rtl="0" algn="l">
              <a:spcBef>
                <a:spcPts val="0"/>
              </a:spcBef>
              <a:spcAft>
                <a:spcPts val="0"/>
              </a:spcAft>
              <a:buClr>
                <a:srgbClr val="1B2733"/>
              </a:buClr>
              <a:buSzPts val="1100"/>
              <a:buChar char="●"/>
            </a:pPr>
            <a:r>
              <a:rPr b="1" lang="en" sz="1100">
                <a:solidFill>
                  <a:srgbClr val="1B2733"/>
                </a:solidFill>
              </a:rPr>
              <a:t>Examples:</a:t>
            </a:r>
            <a:r>
              <a:rPr lang="en" sz="1100">
                <a:solidFill>
                  <a:srgbClr val="1B2733"/>
                </a:solidFill>
              </a:rPr>
              <a:t> KAN-11 verify identity, KAN-14 lockout and fallback, KAN-16 hardship diversion, KAN-19 promise to pay, KAN-20 card payment</a:t>
            </a:r>
            <a:endParaRPr sz="1100">
              <a:solidFill>
                <a:srgbClr val="1B2733"/>
              </a:solidFill>
            </a:endParaRPr>
          </a:p>
          <a:p>
            <a:pPr indent="-298450" lvl="0" marL="457200" rtl="0" algn="l">
              <a:spcBef>
                <a:spcPts val="0"/>
              </a:spcBef>
              <a:spcAft>
                <a:spcPts val="0"/>
              </a:spcAft>
              <a:buClr>
                <a:srgbClr val="1B2733"/>
              </a:buClr>
              <a:buSzPts val="1100"/>
              <a:buChar char="●"/>
            </a:pPr>
            <a:r>
              <a:rPr b="1" lang="en" sz="1100">
                <a:solidFill>
                  <a:srgbClr val="1B2733"/>
                </a:solidFill>
              </a:rPr>
              <a:t>Includes non-screen needs:</a:t>
            </a:r>
            <a:r>
              <a:rPr lang="en" sz="1100">
                <a:solidFill>
                  <a:srgbClr val="1B2733"/>
                </a:solidFill>
              </a:rPr>
              <a:t> routing, audit trail, write-back failure handling</a:t>
            </a:r>
            <a:endParaRPr sz="1100">
              <a:solidFill>
                <a:srgbClr val="1B2733"/>
              </a:solidFill>
            </a:endParaRPr>
          </a:p>
        </p:txBody>
      </p:sp>
      <p:sp>
        <p:nvSpPr>
          <p:cNvPr id="317" name="Google Shape;317;p19"/>
          <p:cNvSpPr/>
          <p:nvPr/>
        </p:nvSpPr>
        <p:spPr>
          <a:xfrm>
            <a:off x="4673600" y="1066800"/>
            <a:ext cx="4013100" cy="30099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19"/>
          <p:cNvSpPr/>
          <p:nvPr/>
        </p:nvSpPr>
        <p:spPr>
          <a:xfrm>
            <a:off x="4673600" y="1066800"/>
            <a:ext cx="50700" cy="30099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19"/>
          <p:cNvSpPr txBox="1"/>
          <p:nvPr/>
        </p:nvSpPr>
        <p:spPr>
          <a:xfrm>
            <a:off x="4826000" y="1168400"/>
            <a:ext cx="37593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14558F"/>
                </a:solidFill>
              </a:rPr>
              <a:t>Prototype</a:t>
            </a:r>
            <a:endParaRPr b="1" sz="1200">
              <a:solidFill>
                <a:srgbClr val="14558F"/>
              </a:solidFill>
            </a:endParaRPr>
          </a:p>
        </p:txBody>
      </p:sp>
      <p:sp>
        <p:nvSpPr>
          <p:cNvPr id="320" name="Google Shape;320;p19"/>
          <p:cNvSpPr txBox="1"/>
          <p:nvPr/>
        </p:nvSpPr>
        <p:spPr>
          <a:xfrm>
            <a:off x="4826000" y="1473200"/>
            <a:ext cx="3759300" cy="25527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rgbClr val="1B2733"/>
              </a:buClr>
              <a:buSzPts val="1100"/>
              <a:buChar char="●"/>
            </a:pPr>
            <a:r>
              <a:rPr lang="en" sz="1100">
                <a:solidFill>
                  <a:srgbClr val="1B2733"/>
                </a:solidFill>
              </a:rPr>
              <a:t>Working portal with 12 screens, each annotated with story IDs, data shown, rule and next step</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Covers verification, lockout, hardship diversion, pay, plan, promise to pay and receipt</a:t>
            </a:r>
            <a:endParaRPr sz="1100">
              <a:solidFill>
                <a:srgbClr val="1B2733"/>
              </a:solidFill>
            </a:endParaRPr>
          </a:p>
          <a:p>
            <a:pPr indent="-298450" lvl="0" marL="457200" rtl="0" algn="l">
              <a:spcBef>
                <a:spcPts val="0"/>
              </a:spcBef>
              <a:spcAft>
                <a:spcPts val="0"/>
              </a:spcAft>
              <a:buClr>
                <a:srgbClr val="1B2733"/>
              </a:buClr>
              <a:buSzPts val="1100"/>
              <a:buChar char="●"/>
            </a:pPr>
            <a:r>
              <a:rPr lang="en" sz="1100">
                <a:solidFill>
                  <a:srgbClr val="1B2733"/>
                </a:solidFill>
              </a:rPr>
              <a:t>Not yet usability tested; that is the next step</a:t>
            </a:r>
            <a:endParaRPr sz="1100">
              <a:solidFill>
                <a:srgbClr val="1B2733"/>
              </a:solidFill>
            </a:endParaRPr>
          </a:p>
        </p:txBody>
      </p:sp>
      <p:sp>
        <p:nvSpPr>
          <p:cNvPr id="321" name="Google Shape;321;p19"/>
          <p:cNvSpPr/>
          <p:nvPr/>
        </p:nvSpPr>
        <p:spPr>
          <a:xfrm>
            <a:off x="457200" y="4203600"/>
            <a:ext cx="8229600" cy="584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2" name="Google Shape;322;p19"/>
          <p:cNvSpPr txBox="1"/>
          <p:nvPr/>
        </p:nvSpPr>
        <p:spPr>
          <a:xfrm>
            <a:off x="584250" y="4203600"/>
            <a:ext cx="79755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FFFFFF"/>
                </a:solidFill>
              </a:rPr>
              <a:t>Open dependencies: Compliance sign-off on verification; eligibility rules and the £5,000 threshold; payment gateway owner; owner for database write-back failures.</a:t>
            </a:r>
            <a:endParaRPr b="1" sz="1100">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0"/>
          <p:cNvSpPr/>
          <p:nvPr/>
        </p:nvSpPr>
        <p:spPr>
          <a:xfrm>
            <a:off x="0" y="0"/>
            <a:ext cx="9144000" cy="1017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8" name="Google Shape;328;p20"/>
          <p:cNvSpPr txBox="1"/>
          <p:nvPr/>
        </p:nvSpPr>
        <p:spPr>
          <a:xfrm>
            <a:off x="457200" y="228600"/>
            <a:ext cx="8229600" cy="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0B2A4A"/>
                </a:solidFill>
              </a:rPr>
              <a:t>Adoption is the main risk, and each group has a specific mitigation</a:t>
            </a:r>
            <a:endParaRPr b="1" sz="2200">
              <a:solidFill>
                <a:srgbClr val="0B2A4A"/>
              </a:solidFill>
            </a:endParaRPr>
          </a:p>
        </p:txBody>
      </p:sp>
      <p:sp>
        <p:nvSpPr>
          <p:cNvPr id="329" name="Google Shape;329;p20"/>
          <p:cNvSpPr txBox="1"/>
          <p:nvPr/>
        </p:nvSpPr>
        <p:spPr>
          <a:xfrm>
            <a:off x="457200" y="4813300"/>
            <a:ext cx="77217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F6B76"/>
                </a:solidFill>
              </a:rPr>
              <a:t>Source: ADKAR assessment; manager row from As-Is impact analysis and To-Be workflow (not yet ADKAR-assessed).</a:t>
            </a:r>
            <a:endParaRPr sz="800">
              <a:solidFill>
                <a:srgbClr val="5F6B76"/>
              </a:solidFill>
            </a:endParaRPr>
          </a:p>
        </p:txBody>
      </p:sp>
      <p:sp>
        <p:nvSpPr>
          <p:cNvPr id="330" name="Google Shape;330;p20"/>
          <p:cNvSpPr txBox="1"/>
          <p:nvPr/>
        </p:nvSpPr>
        <p:spPr>
          <a:xfrm>
            <a:off x="8382000" y="4813300"/>
            <a:ext cx="304800" cy="203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5F6B76"/>
                </a:solidFill>
              </a:rPr>
              <a:t>8</a:t>
            </a:r>
            <a:endParaRPr sz="900">
              <a:solidFill>
                <a:srgbClr val="5F6B76"/>
              </a:solidFill>
            </a:endParaRPr>
          </a:p>
        </p:txBody>
      </p:sp>
      <p:sp>
        <p:nvSpPr>
          <p:cNvPr id="331" name="Google Shape;331;p20"/>
          <p:cNvSpPr/>
          <p:nvPr/>
        </p:nvSpPr>
        <p:spPr>
          <a:xfrm>
            <a:off x="457200" y="1066800"/>
            <a:ext cx="16257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20"/>
          <p:cNvSpPr txBox="1"/>
          <p:nvPr/>
        </p:nvSpPr>
        <p:spPr>
          <a:xfrm>
            <a:off x="457200" y="1092200"/>
            <a:ext cx="16257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Group</a:t>
            </a:r>
            <a:endParaRPr b="1" sz="1000">
              <a:solidFill>
                <a:srgbClr val="FFFFFF"/>
              </a:solidFill>
            </a:endParaRPr>
          </a:p>
        </p:txBody>
      </p:sp>
      <p:sp>
        <p:nvSpPr>
          <p:cNvPr id="333" name="Google Shape;333;p20"/>
          <p:cNvSpPr/>
          <p:nvPr/>
        </p:nvSpPr>
        <p:spPr>
          <a:xfrm>
            <a:off x="2082800" y="1066800"/>
            <a:ext cx="31749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4" name="Google Shape;334;p20"/>
          <p:cNvSpPr txBox="1"/>
          <p:nvPr/>
        </p:nvSpPr>
        <p:spPr>
          <a:xfrm>
            <a:off x="2082800" y="1092200"/>
            <a:ext cx="31749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Key risks</a:t>
            </a:r>
            <a:endParaRPr b="1" sz="1000">
              <a:solidFill>
                <a:srgbClr val="FFFFFF"/>
              </a:solidFill>
            </a:endParaRPr>
          </a:p>
        </p:txBody>
      </p:sp>
      <p:sp>
        <p:nvSpPr>
          <p:cNvPr id="335" name="Google Shape;335;p20"/>
          <p:cNvSpPr/>
          <p:nvPr/>
        </p:nvSpPr>
        <p:spPr>
          <a:xfrm>
            <a:off x="5257800" y="1066800"/>
            <a:ext cx="34290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20"/>
          <p:cNvSpPr txBox="1"/>
          <p:nvPr/>
        </p:nvSpPr>
        <p:spPr>
          <a:xfrm>
            <a:off x="5257800" y="1092200"/>
            <a:ext cx="34290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Mitigation</a:t>
            </a:r>
            <a:endParaRPr b="1" sz="1000">
              <a:solidFill>
                <a:srgbClr val="FFFFFF"/>
              </a:solidFill>
            </a:endParaRPr>
          </a:p>
        </p:txBody>
      </p:sp>
      <p:sp>
        <p:nvSpPr>
          <p:cNvPr id="337" name="Google Shape;337;p20"/>
          <p:cNvSpPr/>
          <p:nvPr/>
        </p:nvSpPr>
        <p:spPr>
          <a:xfrm>
            <a:off x="457200" y="1384300"/>
            <a:ext cx="1625700" cy="64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 name="Google Shape;338;p20"/>
          <p:cNvSpPr txBox="1"/>
          <p:nvPr/>
        </p:nvSpPr>
        <p:spPr>
          <a:xfrm>
            <a:off x="457200" y="1409700"/>
            <a:ext cx="1625700" cy="5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Collections representatives and Operations</a:t>
            </a:r>
            <a:endParaRPr sz="1000">
              <a:solidFill>
                <a:srgbClr val="1B2733"/>
              </a:solidFill>
            </a:endParaRPr>
          </a:p>
        </p:txBody>
      </p:sp>
      <p:sp>
        <p:nvSpPr>
          <p:cNvPr id="339" name="Google Shape;339;p20"/>
          <p:cNvSpPr/>
          <p:nvPr/>
        </p:nvSpPr>
        <p:spPr>
          <a:xfrm>
            <a:off x="2082800" y="1384300"/>
            <a:ext cx="3174900" cy="64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0" name="Google Shape;340;p20"/>
          <p:cNvSpPr txBox="1"/>
          <p:nvPr/>
        </p:nvSpPr>
        <p:spPr>
          <a:xfrm>
            <a:off x="2082800" y="1409700"/>
            <a:ext cx="3174900" cy="5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Teething problems slow cases; reps revert to old tools if triage misfires; fear of job displacement</a:t>
            </a:r>
            <a:endParaRPr sz="1000">
              <a:solidFill>
                <a:srgbClr val="1B2733"/>
              </a:solidFill>
            </a:endParaRPr>
          </a:p>
        </p:txBody>
      </p:sp>
      <p:sp>
        <p:nvSpPr>
          <p:cNvPr id="341" name="Google Shape;341;p20"/>
          <p:cNvSpPr/>
          <p:nvPr/>
        </p:nvSpPr>
        <p:spPr>
          <a:xfrm>
            <a:off x="5257800" y="1384300"/>
            <a:ext cx="3429000" cy="64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2" name="Google Shape;342;p20"/>
          <p:cNvSpPr txBox="1"/>
          <p:nvPr/>
        </p:nvSpPr>
        <p:spPr>
          <a:xfrm>
            <a:off x="5257800" y="1409700"/>
            <a:ext cx="3429000" cy="5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Give time and support to learn before raising productivity expectations; reps keep all complex, hardship and dispute cases</a:t>
            </a:r>
            <a:endParaRPr sz="1000">
              <a:solidFill>
                <a:srgbClr val="1B2733"/>
              </a:solidFill>
            </a:endParaRPr>
          </a:p>
        </p:txBody>
      </p:sp>
      <p:sp>
        <p:nvSpPr>
          <p:cNvPr id="343" name="Google Shape;343;p20"/>
          <p:cNvSpPr/>
          <p:nvPr/>
        </p:nvSpPr>
        <p:spPr>
          <a:xfrm>
            <a:off x="457200" y="2032000"/>
            <a:ext cx="1625700" cy="647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4" name="Google Shape;344;p20"/>
          <p:cNvSpPr txBox="1"/>
          <p:nvPr/>
        </p:nvSpPr>
        <p:spPr>
          <a:xfrm>
            <a:off x="457200" y="2057400"/>
            <a:ext cx="1625700" cy="5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Finance and Compliance</a:t>
            </a:r>
            <a:endParaRPr sz="1000">
              <a:solidFill>
                <a:srgbClr val="1B2733"/>
              </a:solidFill>
            </a:endParaRPr>
          </a:p>
        </p:txBody>
      </p:sp>
      <p:sp>
        <p:nvSpPr>
          <p:cNvPr id="345" name="Google Shape;345;p20"/>
          <p:cNvSpPr/>
          <p:nvPr/>
        </p:nvSpPr>
        <p:spPr>
          <a:xfrm>
            <a:off x="2082800" y="2032000"/>
            <a:ext cx="3174900" cy="647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6" name="Google Shape;346;p20"/>
          <p:cNvSpPr txBox="1"/>
          <p:nvPr/>
        </p:nvSpPr>
        <p:spPr>
          <a:xfrm>
            <a:off x="2082800" y="2057400"/>
            <a:ext cx="3174900" cy="5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Hardship cases misclassified as straightforward; corrupt legacy records spread into reporting</a:t>
            </a:r>
            <a:endParaRPr sz="1000">
              <a:solidFill>
                <a:srgbClr val="1B2733"/>
              </a:solidFill>
            </a:endParaRPr>
          </a:p>
        </p:txBody>
      </p:sp>
      <p:sp>
        <p:nvSpPr>
          <p:cNvPr id="347" name="Google Shape;347;p20"/>
          <p:cNvSpPr/>
          <p:nvPr/>
        </p:nvSpPr>
        <p:spPr>
          <a:xfrm>
            <a:off x="5257800" y="2032000"/>
            <a:ext cx="3429000" cy="647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8" name="Google Shape;348;p20"/>
          <p:cNvSpPr txBox="1"/>
          <p:nvPr/>
        </p:nvSpPr>
        <p:spPr>
          <a:xfrm>
            <a:off x="5257800" y="2057400"/>
            <a:ext cx="3429000" cy="5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Explicit eligibility decision tables with hardship and vulnerability escalation; confirm data with account owners</a:t>
            </a:r>
            <a:endParaRPr sz="1000">
              <a:solidFill>
                <a:srgbClr val="1B2733"/>
              </a:solidFill>
            </a:endParaRPr>
          </a:p>
        </p:txBody>
      </p:sp>
      <p:sp>
        <p:nvSpPr>
          <p:cNvPr id="349" name="Google Shape;349;p20"/>
          <p:cNvSpPr/>
          <p:nvPr/>
        </p:nvSpPr>
        <p:spPr>
          <a:xfrm>
            <a:off x="457200" y="2679700"/>
            <a:ext cx="1625700" cy="64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20"/>
          <p:cNvSpPr txBox="1"/>
          <p:nvPr/>
        </p:nvSpPr>
        <p:spPr>
          <a:xfrm>
            <a:off x="457200" y="2705100"/>
            <a:ext cx="1625700" cy="5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Customers</a:t>
            </a:r>
            <a:endParaRPr sz="1000">
              <a:solidFill>
                <a:srgbClr val="1B2733"/>
              </a:solidFill>
            </a:endParaRPr>
          </a:p>
        </p:txBody>
      </p:sp>
      <p:sp>
        <p:nvSpPr>
          <p:cNvPr id="351" name="Google Shape;351;p20"/>
          <p:cNvSpPr/>
          <p:nvPr/>
        </p:nvSpPr>
        <p:spPr>
          <a:xfrm>
            <a:off x="2082800" y="2679700"/>
            <a:ext cx="3174900" cy="64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2" name="Google Shape;352;p20"/>
          <p:cNvSpPr txBox="1"/>
          <p:nvPr/>
        </p:nvSpPr>
        <p:spPr>
          <a:xfrm>
            <a:off x="2082800" y="2705100"/>
            <a:ext cx="3174900" cy="5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Slow to notice the change; prefer a person; struggle with the portal; disagree with the balance</a:t>
            </a:r>
            <a:endParaRPr sz="1000">
              <a:solidFill>
                <a:srgbClr val="1B2733"/>
              </a:solidFill>
            </a:endParaRPr>
          </a:p>
        </p:txBody>
      </p:sp>
      <p:sp>
        <p:nvSpPr>
          <p:cNvPr id="353" name="Google Shape;353;p20"/>
          <p:cNvSpPr/>
          <p:nvPr/>
        </p:nvSpPr>
        <p:spPr>
          <a:xfrm>
            <a:off x="5257800" y="2679700"/>
            <a:ext cx="3429000" cy="64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4" name="Google Shape;354;p20"/>
          <p:cNvSpPr txBox="1"/>
          <p:nvPr/>
        </p:nvSpPr>
        <p:spPr>
          <a:xfrm>
            <a:off x="5257800" y="2705100"/>
            <a:ext cx="3429000" cy="5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Announce by email, then letter if unopened after two weeks; walkthrough video; hardship and dispute options inside the portal</a:t>
            </a:r>
            <a:endParaRPr sz="1000">
              <a:solidFill>
                <a:srgbClr val="1B2733"/>
              </a:solidFill>
            </a:endParaRPr>
          </a:p>
        </p:txBody>
      </p:sp>
      <p:sp>
        <p:nvSpPr>
          <p:cNvPr id="355" name="Google Shape;355;p20"/>
          <p:cNvSpPr/>
          <p:nvPr/>
        </p:nvSpPr>
        <p:spPr>
          <a:xfrm>
            <a:off x="457200" y="3327400"/>
            <a:ext cx="1625700" cy="647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6" name="Google Shape;356;p20"/>
          <p:cNvSpPr txBox="1"/>
          <p:nvPr/>
        </p:nvSpPr>
        <p:spPr>
          <a:xfrm>
            <a:off x="457200" y="3352800"/>
            <a:ext cx="1625700" cy="5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Managers and team leaders</a:t>
            </a:r>
            <a:endParaRPr sz="1000">
              <a:solidFill>
                <a:srgbClr val="1B2733"/>
              </a:solidFill>
            </a:endParaRPr>
          </a:p>
        </p:txBody>
      </p:sp>
      <p:sp>
        <p:nvSpPr>
          <p:cNvPr id="357" name="Google Shape;357;p20"/>
          <p:cNvSpPr/>
          <p:nvPr/>
        </p:nvSpPr>
        <p:spPr>
          <a:xfrm>
            <a:off x="2082800" y="3327400"/>
            <a:ext cx="3174900" cy="647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8" name="Google Shape;358;p20"/>
          <p:cNvSpPr txBox="1"/>
          <p:nvPr/>
        </p:nvSpPr>
        <p:spPr>
          <a:xfrm>
            <a:off x="2082800" y="3352800"/>
            <a:ext cx="3174900" cy="5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Lose visibility if portal outcomes sit outside existing reports; receive escalated cases when promises go unpaid</a:t>
            </a:r>
            <a:endParaRPr sz="1000">
              <a:solidFill>
                <a:srgbClr val="1B2733"/>
              </a:solidFill>
            </a:endParaRPr>
          </a:p>
        </p:txBody>
      </p:sp>
      <p:sp>
        <p:nvSpPr>
          <p:cNvPr id="359" name="Google Shape;359;p20"/>
          <p:cNvSpPr/>
          <p:nvPr/>
        </p:nvSpPr>
        <p:spPr>
          <a:xfrm>
            <a:off x="5257800" y="3327400"/>
            <a:ext cx="3429000" cy="647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0" name="Google Shape;360;p20"/>
          <p:cNvSpPr txBox="1"/>
          <p:nvPr/>
        </p:nvSpPr>
        <p:spPr>
          <a:xfrm>
            <a:off x="5257800" y="3352800"/>
            <a:ext cx="3429000" cy="5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Every action syncs to the legacy database and audit log so counts reconcile; escalations arrive with the reason recorded</a:t>
            </a:r>
            <a:endParaRPr sz="1000">
              <a:solidFill>
                <a:srgbClr val="1B2733"/>
              </a:solidFill>
            </a:endParaRPr>
          </a:p>
        </p:txBody>
      </p:sp>
      <p:sp>
        <p:nvSpPr>
          <p:cNvPr id="361" name="Google Shape;361;p20"/>
          <p:cNvSpPr/>
          <p:nvPr/>
        </p:nvSpPr>
        <p:spPr>
          <a:xfrm>
            <a:off x="457200" y="4152900"/>
            <a:ext cx="8229600" cy="5079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2" name="Google Shape;362;p20"/>
          <p:cNvSpPr txBox="1"/>
          <p:nvPr/>
        </p:nvSpPr>
        <p:spPr>
          <a:xfrm>
            <a:off x="584200" y="4216400"/>
            <a:ext cx="79755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0B2A4A"/>
                </a:solidFill>
              </a:rPr>
              <a:t>Reinforcement is weakest for customers (Low) and representatives under pressure, so early support and visible hand-offs are part of the plan.</a:t>
            </a:r>
            <a:endParaRPr b="1" sz="1100">
              <a:solidFill>
                <a:srgbClr val="0B2A4A"/>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1"/>
          <p:cNvSpPr/>
          <p:nvPr/>
        </p:nvSpPr>
        <p:spPr>
          <a:xfrm>
            <a:off x="0" y="0"/>
            <a:ext cx="9144000" cy="1017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8" name="Google Shape;368;p21"/>
          <p:cNvSpPr txBox="1"/>
          <p:nvPr/>
        </p:nvSpPr>
        <p:spPr>
          <a:xfrm>
            <a:off x="457200" y="228600"/>
            <a:ext cx="8229600" cy="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0B2A4A"/>
                </a:solidFill>
              </a:rPr>
              <a:t>We have tested the operational objections, not avoided them</a:t>
            </a:r>
            <a:endParaRPr b="1" sz="2200">
              <a:solidFill>
                <a:srgbClr val="0B2A4A"/>
              </a:solidFill>
            </a:endParaRPr>
          </a:p>
        </p:txBody>
      </p:sp>
      <p:sp>
        <p:nvSpPr>
          <p:cNvPr id="369" name="Google Shape;369;p21"/>
          <p:cNvSpPr txBox="1"/>
          <p:nvPr/>
        </p:nvSpPr>
        <p:spPr>
          <a:xfrm>
            <a:off x="457200" y="4813300"/>
            <a:ext cx="77217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F6B76"/>
                </a:solidFill>
              </a:rPr>
              <a:t>Source: Jira backlog; Phase 1 scope document (assumptions and dependencies); ROI model; ADKAR assessment.</a:t>
            </a:r>
            <a:endParaRPr sz="800">
              <a:solidFill>
                <a:srgbClr val="5F6B76"/>
              </a:solidFill>
            </a:endParaRPr>
          </a:p>
        </p:txBody>
      </p:sp>
      <p:sp>
        <p:nvSpPr>
          <p:cNvPr id="370" name="Google Shape;370;p21"/>
          <p:cNvSpPr txBox="1"/>
          <p:nvPr/>
        </p:nvSpPr>
        <p:spPr>
          <a:xfrm>
            <a:off x="8382000" y="4813300"/>
            <a:ext cx="304800" cy="203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5F6B76"/>
                </a:solidFill>
              </a:rPr>
              <a:t>9</a:t>
            </a:r>
            <a:endParaRPr sz="900">
              <a:solidFill>
                <a:srgbClr val="5F6B76"/>
              </a:solidFill>
            </a:endParaRPr>
          </a:p>
        </p:txBody>
      </p:sp>
      <p:sp>
        <p:nvSpPr>
          <p:cNvPr id="371" name="Google Shape;371;p21"/>
          <p:cNvSpPr/>
          <p:nvPr/>
        </p:nvSpPr>
        <p:spPr>
          <a:xfrm>
            <a:off x="457200" y="1066800"/>
            <a:ext cx="19050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2" name="Google Shape;372;p21"/>
          <p:cNvSpPr txBox="1"/>
          <p:nvPr/>
        </p:nvSpPr>
        <p:spPr>
          <a:xfrm>
            <a:off x="457200" y="1092200"/>
            <a:ext cx="19050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Objection</a:t>
            </a:r>
            <a:endParaRPr b="1" sz="1000">
              <a:solidFill>
                <a:srgbClr val="FFFFFF"/>
              </a:solidFill>
            </a:endParaRPr>
          </a:p>
        </p:txBody>
      </p:sp>
      <p:sp>
        <p:nvSpPr>
          <p:cNvPr id="373" name="Google Shape;373;p21"/>
          <p:cNvSpPr/>
          <p:nvPr/>
        </p:nvSpPr>
        <p:spPr>
          <a:xfrm>
            <a:off x="2362200" y="1066800"/>
            <a:ext cx="43179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4" name="Google Shape;374;p21"/>
          <p:cNvSpPr txBox="1"/>
          <p:nvPr/>
        </p:nvSpPr>
        <p:spPr>
          <a:xfrm>
            <a:off x="2362200" y="1092200"/>
            <a:ext cx="43179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Our answer</a:t>
            </a:r>
            <a:endParaRPr b="1" sz="1000">
              <a:solidFill>
                <a:srgbClr val="FFFFFF"/>
              </a:solidFill>
            </a:endParaRPr>
          </a:p>
        </p:txBody>
      </p:sp>
      <p:sp>
        <p:nvSpPr>
          <p:cNvPr id="375" name="Google Shape;375;p21"/>
          <p:cNvSpPr/>
          <p:nvPr/>
        </p:nvSpPr>
        <p:spPr>
          <a:xfrm>
            <a:off x="6680200" y="1066800"/>
            <a:ext cx="2006700" cy="3174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6" name="Google Shape;376;p21"/>
          <p:cNvSpPr txBox="1"/>
          <p:nvPr/>
        </p:nvSpPr>
        <p:spPr>
          <a:xfrm>
            <a:off x="6680200" y="1092200"/>
            <a:ext cx="20067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Evidence</a:t>
            </a:r>
            <a:endParaRPr b="1" sz="1000">
              <a:solidFill>
                <a:srgbClr val="FFFFFF"/>
              </a:solidFill>
            </a:endParaRPr>
          </a:p>
        </p:txBody>
      </p:sp>
      <p:sp>
        <p:nvSpPr>
          <p:cNvPr id="377" name="Google Shape;377;p21"/>
          <p:cNvSpPr/>
          <p:nvPr/>
        </p:nvSpPr>
        <p:spPr>
          <a:xfrm>
            <a:off x="457200" y="1384300"/>
            <a:ext cx="1905000" cy="64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8" name="Google Shape;378;p21"/>
          <p:cNvSpPr txBox="1"/>
          <p:nvPr/>
        </p:nvSpPr>
        <p:spPr>
          <a:xfrm>
            <a:off x="457200" y="1409700"/>
            <a:ext cx="1905000" cy="5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Will vulnerable customers be mishandled?</a:t>
            </a:r>
            <a:endParaRPr sz="1000">
              <a:solidFill>
                <a:srgbClr val="1B2733"/>
              </a:solidFill>
            </a:endParaRPr>
          </a:p>
        </p:txBody>
      </p:sp>
      <p:sp>
        <p:nvSpPr>
          <p:cNvPr id="379" name="Google Shape;379;p21"/>
          <p:cNvSpPr/>
          <p:nvPr/>
        </p:nvSpPr>
        <p:spPr>
          <a:xfrm>
            <a:off x="2362200" y="1384300"/>
            <a:ext cx="4317900" cy="64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21"/>
          <p:cNvSpPr txBox="1"/>
          <p:nvPr/>
        </p:nvSpPr>
        <p:spPr>
          <a:xfrm>
            <a:off x="2362200" y="1409700"/>
            <a:ext cx="4317900" cy="5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Hardship, vulnerability and disputes are screened out before and after login; no payment options are shown to flagged accounts</a:t>
            </a:r>
            <a:endParaRPr sz="1000">
              <a:solidFill>
                <a:srgbClr val="1B2733"/>
              </a:solidFill>
            </a:endParaRPr>
          </a:p>
        </p:txBody>
      </p:sp>
      <p:sp>
        <p:nvSpPr>
          <p:cNvPr id="381" name="Google Shape;381;p21"/>
          <p:cNvSpPr/>
          <p:nvPr/>
        </p:nvSpPr>
        <p:spPr>
          <a:xfrm>
            <a:off x="6680200" y="1384300"/>
            <a:ext cx="2006700" cy="64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2" name="Google Shape;382;p21"/>
          <p:cNvSpPr txBox="1"/>
          <p:nvPr/>
        </p:nvSpPr>
        <p:spPr>
          <a:xfrm>
            <a:off x="6680200" y="1409700"/>
            <a:ext cx="2006700" cy="5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Triage rules; KAN-16, KAN-21</a:t>
            </a:r>
            <a:endParaRPr sz="1000">
              <a:solidFill>
                <a:srgbClr val="1B2733"/>
              </a:solidFill>
            </a:endParaRPr>
          </a:p>
        </p:txBody>
      </p:sp>
      <p:sp>
        <p:nvSpPr>
          <p:cNvPr id="383" name="Google Shape;383;p21"/>
          <p:cNvSpPr/>
          <p:nvPr/>
        </p:nvSpPr>
        <p:spPr>
          <a:xfrm>
            <a:off x="457200" y="2032000"/>
            <a:ext cx="1905000" cy="482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4" name="Google Shape;384;p21"/>
          <p:cNvSpPr txBox="1"/>
          <p:nvPr/>
        </p:nvSpPr>
        <p:spPr>
          <a:xfrm>
            <a:off x="457200" y="2057400"/>
            <a:ext cx="19050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Are the numbers solid?</a:t>
            </a:r>
            <a:endParaRPr sz="1000">
              <a:solidFill>
                <a:srgbClr val="1B2733"/>
              </a:solidFill>
            </a:endParaRPr>
          </a:p>
        </p:txBody>
      </p:sp>
      <p:sp>
        <p:nvSpPr>
          <p:cNvPr id="385" name="Google Shape;385;p21"/>
          <p:cNvSpPr/>
          <p:nvPr/>
        </p:nvSpPr>
        <p:spPr>
          <a:xfrm>
            <a:off x="2362200" y="2032000"/>
            <a:ext cx="4317900" cy="482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6" name="Google Shape;386;p21"/>
          <p:cNvSpPr txBox="1"/>
          <p:nvPr/>
        </p:nvSpPr>
        <p:spPr>
          <a:xfrm>
            <a:off x="2362200" y="2057400"/>
            <a:ext cx="43179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Hard savings alone repay the build in about 5 months; the 15% revenue-loss figure is not used in the model</a:t>
            </a:r>
            <a:endParaRPr sz="1000">
              <a:solidFill>
                <a:srgbClr val="1B2733"/>
              </a:solidFill>
            </a:endParaRPr>
          </a:p>
        </p:txBody>
      </p:sp>
      <p:sp>
        <p:nvSpPr>
          <p:cNvPr id="387" name="Google Shape;387;p21"/>
          <p:cNvSpPr/>
          <p:nvPr/>
        </p:nvSpPr>
        <p:spPr>
          <a:xfrm>
            <a:off x="6680200" y="2032000"/>
            <a:ext cx="2006700" cy="482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21"/>
          <p:cNvSpPr txBox="1"/>
          <p:nvPr/>
        </p:nvSpPr>
        <p:spPr>
          <a:xfrm>
            <a:off x="6680200" y="2057400"/>
            <a:ext cx="20067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ROI model; FA-07 confidence</a:t>
            </a:r>
            <a:endParaRPr sz="1000">
              <a:solidFill>
                <a:srgbClr val="1B2733"/>
              </a:solidFill>
            </a:endParaRPr>
          </a:p>
        </p:txBody>
      </p:sp>
      <p:sp>
        <p:nvSpPr>
          <p:cNvPr id="389" name="Google Shape;389;p21"/>
          <p:cNvSpPr/>
          <p:nvPr/>
        </p:nvSpPr>
        <p:spPr>
          <a:xfrm>
            <a:off x="457200" y="2514600"/>
            <a:ext cx="1905000" cy="482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0" name="Google Shape;390;p21"/>
          <p:cNvSpPr txBox="1"/>
          <p:nvPr/>
        </p:nvSpPr>
        <p:spPr>
          <a:xfrm>
            <a:off x="457200" y="2540000"/>
            <a:ext cx="19050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What if customers cannot verify?</a:t>
            </a:r>
            <a:endParaRPr sz="1000">
              <a:solidFill>
                <a:srgbClr val="1B2733"/>
              </a:solidFill>
            </a:endParaRPr>
          </a:p>
        </p:txBody>
      </p:sp>
      <p:sp>
        <p:nvSpPr>
          <p:cNvPr id="391" name="Google Shape;391;p21"/>
          <p:cNvSpPr/>
          <p:nvPr/>
        </p:nvSpPr>
        <p:spPr>
          <a:xfrm>
            <a:off x="2362200" y="2514600"/>
            <a:ext cx="4317900" cy="482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2" name="Google Shape;392;p21"/>
          <p:cNvSpPr txBox="1"/>
          <p:nvPr/>
        </p:nvSpPr>
        <p:spPr>
          <a:xfrm>
            <a:off x="2362200" y="2540000"/>
            <a:ext cx="43179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3 attempts, a 60-minute lock, a support number and a manual ID check by a representative</a:t>
            </a:r>
            <a:endParaRPr sz="1000">
              <a:solidFill>
                <a:srgbClr val="1B2733"/>
              </a:solidFill>
            </a:endParaRPr>
          </a:p>
        </p:txBody>
      </p:sp>
      <p:sp>
        <p:nvSpPr>
          <p:cNvPr id="393" name="Google Shape;393;p21"/>
          <p:cNvSpPr/>
          <p:nvPr/>
        </p:nvSpPr>
        <p:spPr>
          <a:xfrm>
            <a:off x="6680200" y="2514600"/>
            <a:ext cx="2006700" cy="482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4" name="Google Shape;394;p21"/>
          <p:cNvSpPr txBox="1"/>
          <p:nvPr/>
        </p:nvSpPr>
        <p:spPr>
          <a:xfrm>
            <a:off x="6680200" y="2540000"/>
            <a:ext cx="20067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KAN-11, KAN-14, KAN-27</a:t>
            </a:r>
            <a:endParaRPr sz="1000">
              <a:solidFill>
                <a:srgbClr val="1B2733"/>
              </a:solidFill>
            </a:endParaRPr>
          </a:p>
        </p:txBody>
      </p:sp>
      <p:sp>
        <p:nvSpPr>
          <p:cNvPr id="395" name="Google Shape;395;p21"/>
          <p:cNvSpPr/>
          <p:nvPr/>
        </p:nvSpPr>
        <p:spPr>
          <a:xfrm>
            <a:off x="457200" y="2997200"/>
            <a:ext cx="1905000" cy="482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6" name="Google Shape;396;p21"/>
          <p:cNvSpPr txBox="1"/>
          <p:nvPr/>
        </p:nvSpPr>
        <p:spPr>
          <a:xfrm>
            <a:off x="457200" y="3022600"/>
            <a:ext cx="19050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What if a database update fails?</a:t>
            </a:r>
            <a:endParaRPr sz="1000">
              <a:solidFill>
                <a:srgbClr val="1B2733"/>
              </a:solidFill>
            </a:endParaRPr>
          </a:p>
        </p:txBody>
      </p:sp>
      <p:sp>
        <p:nvSpPr>
          <p:cNvPr id="397" name="Google Shape;397;p21"/>
          <p:cNvSpPr/>
          <p:nvPr/>
        </p:nvSpPr>
        <p:spPr>
          <a:xfrm>
            <a:off x="2362200" y="2997200"/>
            <a:ext cx="4317900" cy="482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8" name="Google Shape;398;p21"/>
          <p:cNvSpPr txBox="1"/>
          <p:nvPr/>
        </p:nvSpPr>
        <p:spPr>
          <a:xfrm>
            <a:off x="2362200" y="3022600"/>
            <a:ext cx="43179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A retry and a task for a representative are planned (KAN-30); an owner is not yet named, so it is a condition of approval</a:t>
            </a:r>
            <a:endParaRPr sz="1000">
              <a:solidFill>
                <a:srgbClr val="1B2733"/>
              </a:solidFill>
            </a:endParaRPr>
          </a:p>
        </p:txBody>
      </p:sp>
      <p:sp>
        <p:nvSpPr>
          <p:cNvPr id="399" name="Google Shape;399;p21"/>
          <p:cNvSpPr/>
          <p:nvPr/>
        </p:nvSpPr>
        <p:spPr>
          <a:xfrm>
            <a:off x="6680200" y="2997200"/>
            <a:ext cx="2006700" cy="4827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0" name="Google Shape;400;p21"/>
          <p:cNvSpPr txBox="1"/>
          <p:nvPr/>
        </p:nvSpPr>
        <p:spPr>
          <a:xfrm>
            <a:off x="6680200" y="3022600"/>
            <a:ext cx="20067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KAN-30; scope dependencies</a:t>
            </a:r>
            <a:endParaRPr sz="1000">
              <a:solidFill>
                <a:srgbClr val="1B2733"/>
              </a:solidFill>
            </a:endParaRPr>
          </a:p>
        </p:txBody>
      </p:sp>
      <p:sp>
        <p:nvSpPr>
          <p:cNvPr id="401" name="Google Shape;401;p21"/>
          <p:cNvSpPr/>
          <p:nvPr/>
        </p:nvSpPr>
        <p:spPr>
          <a:xfrm>
            <a:off x="457200" y="3479800"/>
            <a:ext cx="1905000" cy="482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2" name="Google Shape;402;p21"/>
          <p:cNvSpPr txBox="1"/>
          <p:nvPr/>
        </p:nvSpPr>
        <p:spPr>
          <a:xfrm>
            <a:off x="457200" y="3505200"/>
            <a:ext cx="19050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Is identity checking compliant?</a:t>
            </a:r>
            <a:endParaRPr sz="1000">
              <a:solidFill>
                <a:srgbClr val="1B2733"/>
              </a:solidFill>
            </a:endParaRPr>
          </a:p>
        </p:txBody>
      </p:sp>
      <p:sp>
        <p:nvSpPr>
          <p:cNvPr id="403" name="Google Shape;403;p21"/>
          <p:cNvSpPr/>
          <p:nvPr/>
        </p:nvSpPr>
        <p:spPr>
          <a:xfrm>
            <a:off x="2362200" y="3479800"/>
            <a:ext cx="4317900" cy="482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4" name="Google Shape;404;p21"/>
          <p:cNvSpPr txBox="1"/>
          <p:nvPr/>
        </p:nvSpPr>
        <p:spPr>
          <a:xfrm>
            <a:off x="2362200" y="3505200"/>
            <a:ext cx="43179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The standard (date of birth, post code, card digits) awaits Compliance sign-off</a:t>
            </a:r>
            <a:endParaRPr sz="1000">
              <a:solidFill>
                <a:srgbClr val="1B2733"/>
              </a:solidFill>
            </a:endParaRPr>
          </a:p>
        </p:txBody>
      </p:sp>
      <p:sp>
        <p:nvSpPr>
          <p:cNvPr id="405" name="Google Shape;405;p21"/>
          <p:cNvSpPr/>
          <p:nvPr/>
        </p:nvSpPr>
        <p:spPr>
          <a:xfrm>
            <a:off x="6680200" y="3479800"/>
            <a:ext cx="2006700" cy="482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6" name="Google Shape;406;p21"/>
          <p:cNvSpPr txBox="1"/>
          <p:nvPr/>
        </p:nvSpPr>
        <p:spPr>
          <a:xfrm>
            <a:off x="6680200" y="3505200"/>
            <a:ext cx="20067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B2733"/>
                </a:solidFill>
              </a:rPr>
              <a:t>KAN-11; scope assumptions</a:t>
            </a:r>
            <a:endParaRPr sz="1000">
              <a:solidFill>
                <a:srgbClr val="1B2733"/>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22"/>
          <p:cNvSpPr/>
          <p:nvPr/>
        </p:nvSpPr>
        <p:spPr>
          <a:xfrm>
            <a:off x="0" y="0"/>
            <a:ext cx="9144000" cy="1017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22"/>
          <p:cNvSpPr txBox="1"/>
          <p:nvPr/>
        </p:nvSpPr>
        <p:spPr>
          <a:xfrm>
            <a:off x="457200" y="228600"/>
            <a:ext cx="8229600" cy="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0B2A4A"/>
                </a:solidFill>
              </a:rPr>
              <a:t>Decision today: approve Phase 1 funding and start delivery</a:t>
            </a:r>
            <a:endParaRPr b="1" sz="2200">
              <a:solidFill>
                <a:srgbClr val="0B2A4A"/>
              </a:solidFill>
            </a:endParaRPr>
          </a:p>
        </p:txBody>
      </p:sp>
      <p:sp>
        <p:nvSpPr>
          <p:cNvPr id="413" name="Google Shape;413;p22"/>
          <p:cNvSpPr txBox="1"/>
          <p:nvPr/>
        </p:nvSpPr>
        <p:spPr>
          <a:xfrm>
            <a:off x="457200" y="4813300"/>
            <a:ext cx="77217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5F6B76"/>
                </a:solidFill>
              </a:rPr>
              <a:t>Source: ROI summary; Phase 1 scope document; Jira backlog; discovery baselines (activity tracker, FA-06).</a:t>
            </a:r>
            <a:endParaRPr sz="800">
              <a:solidFill>
                <a:srgbClr val="5F6B76"/>
              </a:solidFill>
            </a:endParaRPr>
          </a:p>
        </p:txBody>
      </p:sp>
      <p:sp>
        <p:nvSpPr>
          <p:cNvPr id="414" name="Google Shape;414;p22"/>
          <p:cNvSpPr txBox="1"/>
          <p:nvPr/>
        </p:nvSpPr>
        <p:spPr>
          <a:xfrm>
            <a:off x="8382000" y="4813300"/>
            <a:ext cx="304800" cy="203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5F6B76"/>
                </a:solidFill>
              </a:rPr>
              <a:t>10</a:t>
            </a:r>
            <a:endParaRPr sz="900">
              <a:solidFill>
                <a:srgbClr val="5F6B76"/>
              </a:solidFill>
            </a:endParaRPr>
          </a:p>
        </p:txBody>
      </p:sp>
      <p:sp>
        <p:nvSpPr>
          <p:cNvPr id="415" name="Google Shape;415;p22"/>
          <p:cNvSpPr/>
          <p:nvPr/>
        </p:nvSpPr>
        <p:spPr>
          <a:xfrm>
            <a:off x="457200" y="1066800"/>
            <a:ext cx="1397100" cy="8382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6" name="Google Shape;416;p22"/>
          <p:cNvSpPr txBox="1"/>
          <p:nvPr/>
        </p:nvSpPr>
        <p:spPr>
          <a:xfrm>
            <a:off x="558800" y="1320800"/>
            <a:ext cx="12699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FFFFFF"/>
                </a:solidFill>
              </a:rPr>
              <a:t>1 Approve</a:t>
            </a:r>
            <a:endParaRPr b="1" sz="1500">
              <a:solidFill>
                <a:srgbClr val="FFFFFF"/>
              </a:solidFill>
            </a:endParaRPr>
          </a:p>
        </p:txBody>
      </p:sp>
      <p:sp>
        <p:nvSpPr>
          <p:cNvPr id="417" name="Google Shape;417;p22"/>
          <p:cNvSpPr/>
          <p:nvPr/>
        </p:nvSpPr>
        <p:spPr>
          <a:xfrm>
            <a:off x="1854200" y="1066800"/>
            <a:ext cx="6832500" cy="8382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8" name="Google Shape;418;p22"/>
          <p:cNvSpPr txBox="1"/>
          <p:nvPr/>
        </p:nvSpPr>
        <p:spPr>
          <a:xfrm>
            <a:off x="2006600" y="1193800"/>
            <a:ext cx="65277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1B2733"/>
                </a:solidFill>
              </a:rPr>
              <a:t>The £175k Phase 1 build: status sync £45k, self-service repayment £85k, account triage £45k.</a:t>
            </a:r>
            <a:endParaRPr sz="1300">
              <a:solidFill>
                <a:srgbClr val="1B2733"/>
              </a:solidFill>
            </a:endParaRPr>
          </a:p>
        </p:txBody>
      </p:sp>
      <p:sp>
        <p:nvSpPr>
          <p:cNvPr id="419" name="Google Shape;419;p22"/>
          <p:cNvSpPr/>
          <p:nvPr/>
        </p:nvSpPr>
        <p:spPr>
          <a:xfrm>
            <a:off x="457200" y="2032000"/>
            <a:ext cx="1397100" cy="8382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0" name="Google Shape;420;p22"/>
          <p:cNvSpPr txBox="1"/>
          <p:nvPr/>
        </p:nvSpPr>
        <p:spPr>
          <a:xfrm>
            <a:off x="558800" y="2159050"/>
            <a:ext cx="1269900" cy="58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FFFFFF"/>
                </a:solidFill>
              </a:rPr>
              <a:t>2 Name owners</a:t>
            </a:r>
            <a:endParaRPr b="1" sz="1500">
              <a:solidFill>
                <a:srgbClr val="FFFFFF"/>
              </a:solidFill>
            </a:endParaRPr>
          </a:p>
        </p:txBody>
      </p:sp>
      <p:sp>
        <p:nvSpPr>
          <p:cNvPr id="421" name="Google Shape;421;p22"/>
          <p:cNvSpPr/>
          <p:nvPr/>
        </p:nvSpPr>
        <p:spPr>
          <a:xfrm>
            <a:off x="1854200" y="2032000"/>
            <a:ext cx="6832500" cy="8382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2" name="Google Shape;422;p22"/>
          <p:cNvSpPr txBox="1"/>
          <p:nvPr/>
        </p:nvSpPr>
        <p:spPr>
          <a:xfrm>
            <a:off x="2006600" y="2159000"/>
            <a:ext cx="65277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1B2733"/>
                </a:solidFill>
              </a:rPr>
              <a:t>Compliance sign-off on identity verification; eligibility rules and the £5,000 threshold; payment gateway; database write-back failures.</a:t>
            </a:r>
            <a:endParaRPr sz="1300">
              <a:solidFill>
                <a:srgbClr val="1B2733"/>
              </a:solidFill>
            </a:endParaRPr>
          </a:p>
        </p:txBody>
      </p:sp>
      <p:sp>
        <p:nvSpPr>
          <p:cNvPr id="423" name="Google Shape;423;p22"/>
          <p:cNvSpPr/>
          <p:nvPr/>
        </p:nvSpPr>
        <p:spPr>
          <a:xfrm>
            <a:off x="457200" y="2997200"/>
            <a:ext cx="1397100" cy="838200"/>
          </a:xfrm>
          <a:prstGeom prst="rect">
            <a:avLst/>
          </a:prstGeom>
          <a:solidFill>
            <a:srgbClr val="14558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4" name="Google Shape;424;p22"/>
          <p:cNvSpPr txBox="1"/>
          <p:nvPr/>
        </p:nvSpPr>
        <p:spPr>
          <a:xfrm>
            <a:off x="558800" y="3067050"/>
            <a:ext cx="12699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FFFFFF"/>
                </a:solidFill>
              </a:rPr>
              <a:t>3 Start delivery</a:t>
            </a:r>
            <a:endParaRPr b="1" sz="1500">
              <a:solidFill>
                <a:srgbClr val="FFFFFF"/>
              </a:solidFill>
            </a:endParaRPr>
          </a:p>
        </p:txBody>
      </p:sp>
      <p:sp>
        <p:nvSpPr>
          <p:cNvPr id="425" name="Google Shape;425;p22"/>
          <p:cNvSpPr/>
          <p:nvPr/>
        </p:nvSpPr>
        <p:spPr>
          <a:xfrm>
            <a:off x="1854200" y="2997200"/>
            <a:ext cx="6832500" cy="838200"/>
          </a:xfrm>
          <a:prstGeom prst="rect">
            <a:avLst/>
          </a:prstGeom>
          <a:solidFill>
            <a:srgbClr val="EEF3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6" name="Google Shape;426;p22"/>
          <p:cNvSpPr txBox="1"/>
          <p:nvPr/>
        </p:nvSpPr>
        <p:spPr>
          <a:xfrm>
            <a:off x="2006600" y="3124200"/>
            <a:ext cx="6527700" cy="6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1B2733"/>
                </a:solidFill>
              </a:rPr>
              <a:t>Refine the 19-story backlog, and usability test the prototype with representatives and customers.</a:t>
            </a:r>
            <a:endParaRPr sz="1300">
              <a:solidFill>
                <a:srgbClr val="1B2733"/>
              </a:solidFill>
            </a:endParaRPr>
          </a:p>
        </p:txBody>
      </p:sp>
      <p:sp>
        <p:nvSpPr>
          <p:cNvPr id="427" name="Google Shape;427;p22"/>
          <p:cNvSpPr/>
          <p:nvPr/>
        </p:nvSpPr>
        <p:spPr>
          <a:xfrm>
            <a:off x="457200" y="4013200"/>
            <a:ext cx="8229600" cy="507900"/>
          </a:xfrm>
          <a:prstGeom prst="rect">
            <a:avLst/>
          </a:prstGeom>
          <a:solidFill>
            <a:srgbClr val="0B2A4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8" name="Google Shape;428;p22"/>
          <p:cNvSpPr txBox="1"/>
          <p:nvPr/>
        </p:nvSpPr>
        <p:spPr>
          <a:xfrm>
            <a:off x="584200" y="4076700"/>
            <a:ext cx="79755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FFFFFF"/>
                </a:solidFill>
              </a:rPr>
              <a:t>Success at 12 months: payback achieved, fewer duplicate and missed follow-ups (baseline 20% and 14%), simple cases resolved online.</a:t>
            </a:r>
            <a:endParaRPr b="1" sz="1100">
              <a:solidFill>
                <a:srgbClr val="FFFF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